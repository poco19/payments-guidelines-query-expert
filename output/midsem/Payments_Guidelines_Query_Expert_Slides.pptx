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284" y="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project is Payments Guidelines Query Expert. It helps payments professionals ask questions about documented requirements and inspect the sources behind an answer. We have started with NPCI circulars across multiple payment products. The intended product is broader, but this is the coverage implemented today. For this midterm, we are presenting a working local prototype, its design choices, a preliminary retrieval comparison and the work still needed to evaluate answer quality. The product name describes the task it supports. The output remains AI assistance that a user should review, rather than an authoritative compliance decision.</a:t>
            </a:r>
          </a:p>
          <a:p>
            <a:endParaRPr/>
          </a:p>
          <a:p>
            <a:r>
              <a:t>Evidence: evidence/20261003T172349Z/retrieval.json; evidence/20261003T172349Z/live.json; evidence/browser-query-expert/report.json; evidence/simple-demo/answer.json; evidence/simple-demo-friend/answer.json.</a:t>
            </a:r>
          </a:p>
          <a:p>
            <a:r>
              <a:t>Initial corpus: NPCI circulars. Evaluation: AI-assisted UPI cases, independent review pending.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intended users are product, operations and compliance teams in banks and fintechs. A question about one payment feature may require several circulars, including later clarifications. A user must first find the right documents, then identify the relevant conditions, and finally check which source supports each statement. Manual searching makes this slow, while a fluent AI answer can hide missing conditions. We want to make this question-to-source journey easier. We have not yet measured time savings. A useful outcome would be a user finding the necessary requirement with fewer searches while still checking the original guideline before acting.</a:t>
            </a:r>
          </a:p>
          <a:p>
            <a:endParaRPr/>
          </a:p>
          <a:p>
            <a:r>
              <a:t>Evidence: evidence/20261003T172349Z/retrieval.json; evidence/20261003T172349Z/live.json; evidence/browser-query-expert/report.json; evidence/simple-demo/answer.json; evidence/simple-demo-friend/answer.json.</a:t>
            </a:r>
          </a:p>
          <a:p>
            <a:r>
              <a:t>Initial corpus: NPCI circulars. Evaluation: AI-assisted UPI cases, independent review pending.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prototype helps users ask questions, inspect sources, and summarise or compare circulars. Here the user asks: Can I use UPI Tap and Pay at a shop's card machine? No circular number is needed in the question. The recorded local response says the terminal must be NFC-enabled and appropriately certified, and cites the supporting clause. NFC is the contactless technology used for tapping a device. The response also provides merchant-only and integration conditions. The slide uses enlarged captures from the application rendering of this saved response; the answer text has not been rewritten for the presentation. This shows how the user can follow an answer back to a circular. It is one illustrative case, not an accuracy result.</a:t>
            </a:r>
          </a:p>
          <a:p>
            <a:endParaRPr/>
          </a:p>
          <a:p>
            <a:r>
              <a:t>Evidence: evidence/20261003T172349Z/retrieval.json; evidence/20261003T172349Z/live.json; evidence/browser-query-expert/report.json; evidence/simple-demo/answer.json; evidence/simple-demo-friend/answer.json.</a:t>
            </a:r>
          </a:p>
          <a:p>
            <a:r>
              <a:t>Initial corpus: NPCI circulars. Evaluation: AI-assisted UPI cases, independent review pending.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knowledge base starts with Markdown circulars and product inventory records. We preserve each document and page before splitting its text. A recognised heading or numbered clause begins a new block. A long block is split into windows of at most 220 words, with 35 words repeated between adjacent windows to preserve some context. We never combine text from different circulars into one chunk. Each chunk retains its document ID, page, heading and links to its neighbours. The same text feeds BM25 keyword search and Qwen embeddings stored in Chroma. SQLite stores identities, filters and relationships. This structure lets us search by words or meaning while tracing every selected passage back to its source.</a:t>
            </a:r>
          </a:p>
          <a:p>
            <a:endParaRPr/>
          </a:p>
          <a:p>
            <a:r>
              <a:t>Evidence: evidence/20261003T172349Z/retrieval.json; evidence/20261003T172349Z/live.json; evidence/browser-query-expert/report.json; evidence/simple-demo/answer.json; evidence/simple-demo-friend/answer.json.</a:t>
            </a:r>
          </a:p>
          <a:p>
            <a:r>
              <a:t>Initial corpus: NPCI circulars. Evaluation: AI-assisted UPI cases, independent review pending.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At question time, product and document filters first narrow the search. BM25 finds exact words and circular references, while Qwen embeddings find passages with similar meaning. Hybrid retrieval combines these results. A local MiniLM reranker scores candidates for focused questions. Summary and comparison routes instead select evidence across document sections and bypass reranking. We assemble a bounded set of passages and pass it to Qwen3.5 through Ollama. Citation and support checks run before display, and the reader can inspect the sources. We use pretrained models without fine-tuning because our first requirement is access to attributable documents. Local inference avoids paid model calls, but the 32 GB machine limits speed and context. Automated support checks use the same model and can share its mistakes.</a:t>
            </a:r>
          </a:p>
          <a:p>
            <a:endParaRPr/>
          </a:p>
          <a:p>
            <a:r>
              <a:t>Evidence: evidence/20261003T172349Z/retrieval.json; evidence/20261003T172349Z/live.json; evidence/browser-query-expert/report.json; evidence/simple-demo/answer.json; evidence/simple-demo-friend/answer.json.</a:t>
            </a:r>
          </a:p>
          <a:p>
            <a:r>
              <a:t>Initial corpus: NPCI circulars. Evaluation: AI-assisted UPI cases, independent review pending.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experiment asks whether more complex retrieval gives us better evidence than a simple keyword baseline. All four methods ran the same 50 UPI cases on the same corpus. Expected evidence found means the required source passages appeared in the retrieved context: all methods found 55 out of 55. It does not mean 55 correct AI answers. The second measure tests six cases that should return no evidence. BM25 returned nothing in all six; each semantic variant returned irrelevant passages in one case. The last column measures retrieval time only, excluding answer generation. BM25 was fastest; adding reranking to hybrid increased the median from 78 to 160.5 milliseconds without improving coverage here. The conclusion is to keep BM25 as a strong baseline and test harder cases before claiming a benefit from extra complexity. Many queries name circulars and 15 coverage routes bypass reranking. The AI-assisted dataset still needs independent review, so this cannot determine overall answer quality or the best method for every question. Some questions need more than one passage, which is why there are 55 expected evidence matches across 50 cases.</a:t>
            </a:r>
          </a:p>
          <a:p>
            <a:endParaRPr/>
          </a:p>
          <a:p>
            <a:r>
              <a:t>Evidence: evidence/20261003T172349Z/retrieval.json; evidence/20261003T172349Z/live.json; evidence/browser-query-expert/report.json; evidence/simple-demo/answer.json; evidence/simple-demo-friend/answer.json.</a:t>
            </a:r>
          </a:p>
          <a:p>
            <a:r>
              <a:t>Initial corpus: NPCI circulars. Evaluation: AI-assisted UPI cases, independent review pending.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roadmap now identifies work, timing and a concrete output. The midterm milestone is complete at the prototype level: cited questions and answers, source inspection, summaries and comparisons. In the first two weeks after midterm, we plan to review the existing 50 cases with an independent reviewer and freeze unseen questions. The output is a reviewed test set and an answer-quality scorecard. In weeks three to five, we will fix source and answer failures, improve overly long summaries, and compare retrieval choices. The output is a tested revision with a documented quality and latency comparison. In weeks six to eight, payments users will try research tasks, and we will prepare reproducible setup and a final demo. The output is a user-task readout and a repeatable local demonstration. These are indicative planning windows, dependent on reviewer access. A second payments source is an optional extension after validation, not a condition for completing the core capstone.</a:t>
            </a:r>
          </a:p>
          <a:p>
            <a:endParaRPr/>
          </a:p>
          <a:p>
            <a:r>
              <a:t>Evidence: evidence/20261003T172349Z/retrieval.json; evidence/20261003T172349Z/live.json; evidence/browser-query-expert/report.json; evidence/simple-demo/answer.json; evidence/simple-demo-friend/answer.json.</a:t>
            </a:r>
          </a:p>
          <a:p>
            <a:r>
              <a:t>Initial corpus: NPCI circulars. Evaluation: AI-assisted UPI cases, independent review pending.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would like feedback on three decisions. First, is this focused question-and-source workflow a useful and manageable capstone scope for payments teams? Second, which questions should the independently reviewed evaluation prioritise, especially when requirements span several documents? Third, what evidence would convince you that the assistant is useful in practice: task completion, fewer corrections, time spent, or a combination? Our immediate priority is to validate the answers and improve the failures before expanding coverage. The current prototype demonstrates a complete local RAG flow. The remaining work is to establish how reliably it answers realistic questions and how effectively users can verify those answers.</a:t>
            </a:r>
          </a:p>
          <a:p>
            <a:endParaRPr/>
          </a:p>
          <a:p>
            <a:r>
              <a:t>Evidence: evidence/20261003T172349Z/retrieval.json; evidence/20261003T172349Z/live.json; evidence/browser-query-expert/report.json; evidence/simple-demo/answer.json; evidence/simple-demo-friend/answer.json.</a:t>
            </a:r>
          </a:p>
          <a:p>
            <a:r>
              <a:t>Initial corpus: NPCI circulars. Evaluation: AI-assisted UPI cases, independent review pending.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94B3710-A76E-4C31-BA93-578481E84952}"/>
              </a:ext>
            </a:extLst>
          </p:cNvPr>
          <p:cNvSpPr>
            <a:spLocks noGrp="1"/>
          </p:cNvSpPr>
          <p:nvPr/>
        </p:nvSpPr>
        <p:spPr>
          <a:xfrm>
            <a:off x="0" y="0"/>
            <a:ext cx="12192000" cy="57150"/>
          </a:xfrm>
          <a:prstGeom prst="rect">
            <a:avLst/>
          </a:prstGeom>
          <a:solidFill>
            <a:srgbClr val="117D79"/>
          </a:solidFill>
          <a:ln w="0">
            <a:noFill/>
          </a:ln>
        </p:spPr>
        <p:txBody>
          <a:bodyPr/>
          <a:lstStyle/>
          <a:p>
            <a:endParaRPr lang="en-IN"/>
          </a:p>
        </p:txBody>
      </p:sp>
      <p:sp>
        <p:nvSpPr>
          <p:cNvPr id="2" name="Rectangle 1">
            <a:extLst>
              <a:ext uri="{FF2B5EF4-FFF2-40B4-BE49-F238E27FC236}">
                <a16:creationId xmlns:a16="http://schemas.microsoft.com/office/drawing/2014/main" id="{75462E73-F9F0-4806-BC7C-A20C7EC31611}"/>
              </a:ext>
            </a:extLst>
          </p:cNvPr>
          <p:cNvSpPr>
            <a:spLocks noGrp="1"/>
          </p:cNvSpPr>
          <p:nvPr/>
        </p:nvSpPr>
        <p:spPr>
          <a:xfrm>
            <a:off x="723900" y="533400"/>
            <a:ext cx="10763250" cy="714375"/>
          </a:xfrm>
          <a:prstGeom prst="rect">
            <a:avLst/>
          </a:prstGeom>
          <a:noFill/>
          <a:ln w="0">
            <a:noFill/>
          </a:ln>
        </p:spPr>
        <p:txBody>
          <a:bodyPr lIns="0" tIns="0" rIns="0" bIns="0" anchor="t">
            <a:noAutofit/>
          </a:bodyPr>
          <a:lstStyle/>
          <a:p>
            <a:endParaRPr/>
          </a:p>
        </p:txBody>
      </p:sp>
      <p:sp>
        <p:nvSpPr>
          <p:cNvPr id="3" name="Rectangle 2">
            <a:extLst>
              <a:ext uri="{FF2B5EF4-FFF2-40B4-BE49-F238E27FC236}">
                <a16:creationId xmlns:a16="http://schemas.microsoft.com/office/drawing/2014/main" id="{7F8C2B93-D35D-4925-9961-D83CA6F824C3}"/>
              </a:ext>
            </a:extLst>
          </p:cNvPr>
          <p:cNvSpPr>
            <a:spLocks noGrp="1"/>
          </p:cNvSpPr>
          <p:nvPr/>
        </p:nvSpPr>
        <p:spPr>
          <a:xfrm>
            <a:off x="742950" y="6410325"/>
            <a:ext cx="9620250" cy="209550"/>
          </a:xfrm>
          <a:prstGeom prst="rect">
            <a:avLst/>
          </a:prstGeom>
          <a:noFill/>
          <a:ln w="0">
            <a:noFill/>
          </a:ln>
        </p:spPr>
        <p:txBody>
          <a:bodyPr lIns="0" tIns="0" rIns="0" bIns="0" anchor="t">
            <a:noAutofit/>
          </a:bodyPr>
          <a:lstStyle/>
          <a:p>
            <a:pPr algn="l">
              <a:defRPr sz="1050" b="0">
                <a:solidFill>
                  <a:srgbClr val="596C84"/>
                </a:solidFill>
                <a:latin typeface="Inter"/>
                <a:ea typeface="Inter"/>
                <a:cs typeface="Inter"/>
              </a:defRPr>
            </a:pPr>
            <a:r>
              <a:rPr sz="1050" b="0">
                <a:solidFill>
                  <a:srgbClr val="596C84"/>
                </a:solidFill>
                <a:latin typeface="Inter"/>
                <a:ea typeface="Inter"/>
                <a:cs typeface="Inter"/>
              </a:rPr>
              <a:t>Payments Guidelines Query Expert   /   Midterm capstone</a:t>
            </a:r>
          </a:p>
        </p:txBody>
      </p:sp>
      <p:sp>
        <p:nvSpPr>
          <p:cNvPr id="4" name="Rectangle 3">
            <a:extLst>
              <a:ext uri="{FF2B5EF4-FFF2-40B4-BE49-F238E27FC236}">
                <a16:creationId xmlns:a16="http://schemas.microsoft.com/office/drawing/2014/main" id="{D6C4818F-B768-4261-BD41-41605166656B}"/>
              </a:ext>
            </a:extLst>
          </p:cNvPr>
          <p:cNvSpPr>
            <a:spLocks noGrp="1"/>
          </p:cNvSpPr>
          <p:nvPr/>
        </p:nvSpPr>
        <p:spPr>
          <a:xfrm>
            <a:off x="11049000" y="6410325"/>
            <a:ext cx="476250" cy="238125"/>
          </a:xfrm>
          <a:prstGeom prst="rect">
            <a:avLst/>
          </a:prstGeom>
          <a:noFill/>
          <a:ln w="0">
            <a:noFill/>
          </a:ln>
        </p:spPr>
        <p:txBody>
          <a:bodyPr lIns="0" tIns="0" rIns="0" bIns="0" anchor="t">
            <a:noAutofit/>
          </a:bodyPr>
          <a:lstStyle/>
          <a:p>
            <a:pPr algn="l">
              <a:defRPr sz="1200" b="1">
                <a:solidFill>
                  <a:srgbClr val="117D79"/>
                </a:solidFill>
                <a:latin typeface="Inter"/>
                <a:ea typeface="Inter"/>
                <a:cs typeface="Inter"/>
              </a:defRPr>
            </a:pPr>
            <a:r>
              <a:rPr sz="1200" b="1">
                <a:solidFill>
                  <a:srgbClr val="117D79"/>
                </a:solidFill>
                <a:latin typeface="Inter"/>
                <a:ea typeface="Inter"/>
                <a:cs typeface="Inter"/>
              </a:rPr>
              <a:t>01</a:t>
            </a:r>
          </a:p>
        </p:txBody>
      </p:sp>
      <p:sp>
        <p:nvSpPr>
          <p:cNvPr id="5" name="Rectangle 4">
            <a:extLst>
              <a:ext uri="{FF2B5EF4-FFF2-40B4-BE49-F238E27FC236}">
                <a16:creationId xmlns:a16="http://schemas.microsoft.com/office/drawing/2014/main" id="{B9A7748B-AC68-437A-8B90-B245B9CC152F}"/>
              </a:ext>
            </a:extLst>
          </p:cNvPr>
          <p:cNvSpPr>
            <a:spLocks noGrp="1"/>
          </p:cNvSpPr>
          <p:nvPr/>
        </p:nvSpPr>
        <p:spPr>
          <a:xfrm>
            <a:off x="762000" y="1238250"/>
            <a:ext cx="10668000" cy="381000"/>
          </a:xfrm>
          <a:prstGeom prst="rect">
            <a:avLst/>
          </a:prstGeom>
          <a:noFill/>
          <a:ln w="0">
            <a:noFill/>
          </a:ln>
        </p:spPr>
        <p:txBody>
          <a:bodyPr lIns="0" tIns="0" rIns="0" bIns="0" anchor="t">
            <a:noAutofit/>
          </a:bodyPr>
          <a:lstStyle/>
          <a:p>
            <a:pPr algn="ctr">
              <a:defRPr sz="1650" b="1">
                <a:solidFill>
                  <a:srgbClr val="117D79"/>
                </a:solidFill>
                <a:latin typeface="Inter"/>
                <a:ea typeface="Inter"/>
                <a:cs typeface="Inter"/>
              </a:defRPr>
            </a:pPr>
            <a:r>
              <a:rPr sz="1650" b="1">
                <a:solidFill>
                  <a:srgbClr val="117D79"/>
                </a:solidFill>
                <a:latin typeface="Inter"/>
                <a:ea typeface="Inter"/>
                <a:cs typeface="Inter"/>
              </a:rPr>
              <a:t>AI/ML in Practice  /  Midterm</a:t>
            </a:r>
          </a:p>
        </p:txBody>
      </p:sp>
      <p:sp>
        <p:nvSpPr>
          <p:cNvPr id="6" name="Rectangle 5">
            <a:extLst>
              <a:ext uri="{FF2B5EF4-FFF2-40B4-BE49-F238E27FC236}">
                <a16:creationId xmlns:a16="http://schemas.microsoft.com/office/drawing/2014/main" id="{065E6312-B62D-40E4-B972-5110ACAFADB9}"/>
              </a:ext>
            </a:extLst>
          </p:cNvPr>
          <p:cNvSpPr>
            <a:spLocks noGrp="1"/>
          </p:cNvSpPr>
          <p:nvPr/>
        </p:nvSpPr>
        <p:spPr>
          <a:xfrm>
            <a:off x="809625" y="2076450"/>
            <a:ext cx="10572750" cy="1562100"/>
          </a:xfrm>
          <a:prstGeom prst="rect">
            <a:avLst/>
          </a:prstGeom>
          <a:noFill/>
          <a:ln w="0">
            <a:noFill/>
          </a:ln>
        </p:spPr>
        <p:txBody>
          <a:bodyPr lIns="0" tIns="0" rIns="0" bIns="0" anchor="t">
            <a:noAutofit/>
          </a:bodyPr>
          <a:lstStyle/>
          <a:p>
            <a:pPr algn="ctr">
              <a:defRPr sz="4575" b="0">
                <a:solidFill>
                  <a:srgbClr val="101A2E"/>
                </a:solidFill>
                <a:latin typeface="Georgia"/>
                <a:ea typeface="Georgia"/>
                <a:cs typeface="Georgia"/>
              </a:defRPr>
            </a:pPr>
            <a:r>
              <a:rPr sz="4575" b="0" dirty="0">
                <a:solidFill>
                  <a:srgbClr val="101A2E"/>
                </a:solidFill>
                <a:latin typeface="Georgia"/>
                <a:ea typeface="Georgia"/>
                <a:cs typeface="Georgia"/>
              </a:rPr>
              <a:t>Payments Guidelines</a:t>
            </a:r>
          </a:p>
          <a:p>
            <a:pPr algn="ctr">
              <a:defRPr sz="4575" b="0">
                <a:solidFill>
                  <a:srgbClr val="101A2E"/>
                </a:solidFill>
                <a:latin typeface="Georgia"/>
                <a:ea typeface="Georgia"/>
                <a:cs typeface="Georgia"/>
              </a:defRPr>
            </a:pPr>
            <a:r>
              <a:rPr sz="4575" b="0" dirty="0">
                <a:solidFill>
                  <a:srgbClr val="101A2E"/>
                </a:solidFill>
                <a:latin typeface="Georgia"/>
                <a:ea typeface="Georgia"/>
                <a:cs typeface="Georgia"/>
              </a:rPr>
              <a:t>Query Expert</a:t>
            </a:r>
          </a:p>
        </p:txBody>
      </p:sp>
      <p:sp>
        <p:nvSpPr>
          <p:cNvPr id="7" name="Rectangle 6">
            <a:extLst>
              <a:ext uri="{FF2B5EF4-FFF2-40B4-BE49-F238E27FC236}">
                <a16:creationId xmlns:a16="http://schemas.microsoft.com/office/drawing/2014/main" id="{44E8CEC1-8EE1-48AF-B835-F38339E6A650}"/>
              </a:ext>
            </a:extLst>
          </p:cNvPr>
          <p:cNvSpPr>
            <a:spLocks noGrp="1"/>
          </p:cNvSpPr>
          <p:nvPr/>
        </p:nvSpPr>
        <p:spPr>
          <a:xfrm>
            <a:off x="857250" y="4038600"/>
            <a:ext cx="10477500" cy="723900"/>
          </a:xfrm>
          <a:prstGeom prst="rect">
            <a:avLst/>
          </a:prstGeom>
          <a:noFill/>
          <a:ln w="0">
            <a:noFill/>
          </a:ln>
        </p:spPr>
        <p:txBody>
          <a:bodyPr lIns="0" tIns="0" rIns="0" bIns="0" anchor="t">
            <a:noAutofit/>
          </a:bodyPr>
          <a:lstStyle/>
          <a:p>
            <a:pPr algn="ctr">
              <a:defRPr sz="2025" b="0">
                <a:solidFill>
                  <a:srgbClr val="596C84"/>
                </a:solidFill>
                <a:latin typeface="Inter"/>
                <a:ea typeface="Inter"/>
                <a:cs typeface="Inter"/>
              </a:defRPr>
            </a:pPr>
            <a:r>
              <a:rPr sz="2025" b="0">
                <a:solidFill>
                  <a:srgbClr val="596C84"/>
                </a:solidFill>
                <a:latin typeface="Inter"/>
                <a:ea typeface="Inter"/>
                <a:cs typeface="Inter"/>
              </a:rPr>
              <a:t>Answers to payment questions, with sources you can check</a:t>
            </a:r>
          </a:p>
        </p:txBody>
      </p:sp>
      <p:sp>
        <p:nvSpPr>
          <p:cNvPr id="9" name="Rectangle 8">
            <a:extLst>
              <a:ext uri="{FF2B5EF4-FFF2-40B4-BE49-F238E27FC236}">
                <a16:creationId xmlns:a16="http://schemas.microsoft.com/office/drawing/2014/main" id="{8572756E-2D79-4DEB-844A-1E30B1ED5B7F}"/>
              </a:ext>
            </a:extLst>
          </p:cNvPr>
          <p:cNvSpPr>
            <a:spLocks noGrp="1"/>
          </p:cNvSpPr>
          <p:nvPr/>
        </p:nvSpPr>
        <p:spPr>
          <a:xfrm>
            <a:off x="857250" y="5553075"/>
            <a:ext cx="10477500" cy="552450"/>
          </a:xfrm>
          <a:prstGeom prst="rect">
            <a:avLst/>
          </a:prstGeom>
          <a:noFill/>
          <a:ln w="0">
            <a:noFill/>
          </a:ln>
        </p:spPr>
        <p:txBody>
          <a:bodyPr lIns="0" tIns="0" rIns="0" bIns="0" anchor="t">
            <a:noAutofit/>
          </a:bodyPr>
          <a:lstStyle/>
          <a:p>
            <a:pPr algn="ctr">
              <a:defRPr sz="1350" b="0">
                <a:solidFill>
                  <a:srgbClr val="596C84"/>
                </a:solidFill>
                <a:latin typeface="Inter"/>
                <a:ea typeface="Inter"/>
                <a:cs typeface="Inter"/>
              </a:defRPr>
            </a:pPr>
            <a:r>
              <a:rPr sz="1350" b="0">
                <a:solidFill>
                  <a:srgbClr val="596C84"/>
                </a:solidFill>
                <a:latin typeface="Inter"/>
                <a:ea typeface="Inter"/>
                <a:cs typeface="Inter"/>
              </a:rPr>
              <a:t>[Team ID]  |  [Team member names]</a:t>
            </a:r>
          </a:p>
        </p:txBody>
      </p:sp>
    </p:spTree>
    <p:extLst>
      <p:ext uri="{BB962C8B-B14F-4D97-AF65-F5344CB8AC3E}">
        <p14:creationId xmlns:p14="http://schemas.microsoft.com/office/powerpoint/2010/main" val="9019009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FF3CE00C-D5EE-4E1A-828F-E74978CB263F}"/>
              </a:ext>
            </a:extLst>
          </p:cNvPr>
          <p:cNvSpPr>
            <a:spLocks noGrp="1"/>
          </p:cNvSpPr>
          <p:nvPr/>
        </p:nvSpPr>
        <p:spPr>
          <a:xfrm>
            <a:off x="0" y="0"/>
            <a:ext cx="12192000" cy="57150"/>
          </a:xfrm>
          <a:prstGeom prst="rect">
            <a:avLst/>
          </a:prstGeom>
          <a:solidFill>
            <a:srgbClr val="117D79"/>
          </a:solidFill>
          <a:ln w="0">
            <a:noFill/>
          </a:ln>
        </p:spPr>
        <p:txBody>
          <a:bodyPr/>
          <a:lstStyle/>
          <a:p>
            <a:endParaRPr lang="en-IN"/>
          </a:p>
        </p:txBody>
      </p:sp>
      <p:sp>
        <p:nvSpPr>
          <p:cNvPr id="2" name="Rectangle 1">
            <a:extLst>
              <a:ext uri="{FF2B5EF4-FFF2-40B4-BE49-F238E27FC236}">
                <a16:creationId xmlns:a16="http://schemas.microsoft.com/office/drawing/2014/main" id="{7FDA8C44-A65B-46E8-B04B-AA02B3C4AD03}"/>
              </a:ext>
            </a:extLst>
          </p:cNvPr>
          <p:cNvSpPr>
            <a:spLocks noGrp="1"/>
          </p:cNvSpPr>
          <p:nvPr/>
        </p:nvSpPr>
        <p:spPr>
          <a:xfrm>
            <a:off x="723900" y="533400"/>
            <a:ext cx="10763250" cy="714375"/>
          </a:xfrm>
          <a:prstGeom prst="rect">
            <a:avLst/>
          </a:prstGeom>
          <a:noFill/>
          <a:ln w="0">
            <a:noFill/>
          </a:ln>
        </p:spPr>
        <p:txBody>
          <a:bodyPr lIns="0" tIns="0" rIns="0" bIns="0" anchor="t">
            <a:noAutofit/>
          </a:bodyPr>
          <a:lstStyle/>
          <a:p>
            <a:pPr algn="l">
              <a:defRPr sz="3150" b="0">
                <a:solidFill>
                  <a:srgbClr val="101A2E"/>
                </a:solidFill>
                <a:latin typeface="Georgia"/>
                <a:ea typeface="Georgia"/>
                <a:cs typeface="Georgia"/>
              </a:defRPr>
            </a:pPr>
            <a:r>
              <a:rPr sz="3150" b="0">
                <a:solidFill>
                  <a:srgbClr val="101A2E"/>
                </a:solidFill>
                <a:latin typeface="Georgia"/>
                <a:ea typeface="Georgia"/>
                <a:cs typeface="Georgia"/>
              </a:rPr>
              <a:t>Problem Statement and Motivation</a:t>
            </a:r>
          </a:p>
        </p:txBody>
      </p:sp>
      <p:sp>
        <p:nvSpPr>
          <p:cNvPr id="3" name="Rectangle 2">
            <a:extLst>
              <a:ext uri="{FF2B5EF4-FFF2-40B4-BE49-F238E27FC236}">
                <a16:creationId xmlns:a16="http://schemas.microsoft.com/office/drawing/2014/main" id="{F078891E-08B8-42E2-B7A6-084FC94CABFA}"/>
              </a:ext>
            </a:extLst>
          </p:cNvPr>
          <p:cNvSpPr>
            <a:spLocks noGrp="1"/>
          </p:cNvSpPr>
          <p:nvPr/>
        </p:nvSpPr>
        <p:spPr>
          <a:xfrm>
            <a:off x="742950" y="1343025"/>
            <a:ext cx="10620375" cy="381000"/>
          </a:xfrm>
          <a:prstGeom prst="rect">
            <a:avLst/>
          </a:prstGeom>
          <a:noFill/>
          <a:ln w="0">
            <a:noFill/>
          </a:ln>
        </p:spPr>
        <p:txBody>
          <a:bodyPr lIns="0" tIns="0" rIns="0" bIns="0" anchor="t">
            <a:noAutofit/>
          </a:bodyPr>
          <a:lstStyle/>
          <a:p>
            <a:pPr algn="l">
              <a:defRPr sz="1500" b="0">
                <a:solidFill>
                  <a:srgbClr val="596C84"/>
                </a:solidFill>
                <a:latin typeface="Inter"/>
                <a:ea typeface="Inter"/>
                <a:cs typeface="Inter"/>
              </a:defRPr>
            </a:pPr>
            <a:r>
              <a:rPr sz="1500" b="0">
                <a:solidFill>
                  <a:srgbClr val="596C84"/>
                </a:solidFill>
                <a:latin typeface="Inter"/>
                <a:ea typeface="Inter"/>
                <a:cs typeface="Inter"/>
              </a:rPr>
              <a:t>The Why  /  For product, operations and compliance teams in banks and fintechs</a:t>
            </a:r>
          </a:p>
        </p:txBody>
      </p:sp>
      <p:sp>
        <p:nvSpPr>
          <p:cNvPr id="4" name="Rectangle 3">
            <a:extLst>
              <a:ext uri="{FF2B5EF4-FFF2-40B4-BE49-F238E27FC236}">
                <a16:creationId xmlns:a16="http://schemas.microsoft.com/office/drawing/2014/main" id="{1191C288-D727-4078-A5EC-6C273B60AE20}"/>
              </a:ext>
            </a:extLst>
          </p:cNvPr>
          <p:cNvSpPr>
            <a:spLocks noGrp="1"/>
          </p:cNvSpPr>
          <p:nvPr/>
        </p:nvSpPr>
        <p:spPr>
          <a:xfrm>
            <a:off x="742950" y="6410325"/>
            <a:ext cx="9620250" cy="209550"/>
          </a:xfrm>
          <a:prstGeom prst="rect">
            <a:avLst/>
          </a:prstGeom>
          <a:noFill/>
          <a:ln w="0">
            <a:noFill/>
          </a:ln>
        </p:spPr>
        <p:txBody>
          <a:bodyPr lIns="0" tIns="0" rIns="0" bIns="0" anchor="t">
            <a:noAutofit/>
          </a:bodyPr>
          <a:lstStyle/>
          <a:p>
            <a:pPr algn="l">
              <a:defRPr sz="1050" b="0">
                <a:solidFill>
                  <a:srgbClr val="596C84"/>
                </a:solidFill>
                <a:latin typeface="Inter"/>
                <a:ea typeface="Inter"/>
                <a:cs typeface="Inter"/>
              </a:defRPr>
            </a:pPr>
            <a:r>
              <a:rPr sz="1050" b="0">
                <a:solidFill>
                  <a:srgbClr val="596C84"/>
                </a:solidFill>
                <a:latin typeface="Inter"/>
                <a:ea typeface="Inter"/>
                <a:cs typeface="Inter"/>
              </a:rPr>
              <a:t>Payments Guidelines Query Expert   /   Midterm capstone</a:t>
            </a:r>
          </a:p>
        </p:txBody>
      </p:sp>
      <p:sp>
        <p:nvSpPr>
          <p:cNvPr id="5" name="Rectangle 4">
            <a:extLst>
              <a:ext uri="{FF2B5EF4-FFF2-40B4-BE49-F238E27FC236}">
                <a16:creationId xmlns:a16="http://schemas.microsoft.com/office/drawing/2014/main" id="{E2D542B2-9C33-4E19-93B4-12AD11366FAC}"/>
              </a:ext>
            </a:extLst>
          </p:cNvPr>
          <p:cNvSpPr>
            <a:spLocks noGrp="1"/>
          </p:cNvSpPr>
          <p:nvPr/>
        </p:nvSpPr>
        <p:spPr>
          <a:xfrm>
            <a:off x="11049000" y="6410325"/>
            <a:ext cx="476250" cy="238125"/>
          </a:xfrm>
          <a:prstGeom prst="rect">
            <a:avLst/>
          </a:prstGeom>
          <a:noFill/>
          <a:ln w="0">
            <a:noFill/>
          </a:ln>
        </p:spPr>
        <p:txBody>
          <a:bodyPr lIns="0" tIns="0" rIns="0" bIns="0" anchor="t">
            <a:noAutofit/>
          </a:bodyPr>
          <a:lstStyle/>
          <a:p>
            <a:pPr algn="l">
              <a:defRPr sz="1200" b="1">
                <a:solidFill>
                  <a:srgbClr val="117D79"/>
                </a:solidFill>
                <a:latin typeface="Inter"/>
                <a:ea typeface="Inter"/>
                <a:cs typeface="Inter"/>
              </a:defRPr>
            </a:pPr>
            <a:r>
              <a:rPr sz="1200" b="1">
                <a:solidFill>
                  <a:srgbClr val="117D79"/>
                </a:solidFill>
                <a:latin typeface="Inter"/>
                <a:ea typeface="Inter"/>
                <a:cs typeface="Inter"/>
              </a:rPr>
              <a:t>02</a:t>
            </a:r>
          </a:p>
        </p:txBody>
      </p:sp>
      <p:sp>
        <p:nvSpPr>
          <p:cNvPr id="6" name="Rectangle 5">
            <a:extLst>
              <a:ext uri="{FF2B5EF4-FFF2-40B4-BE49-F238E27FC236}">
                <a16:creationId xmlns:a16="http://schemas.microsoft.com/office/drawing/2014/main" id="{E440980E-03FB-4324-A087-66FFE5E6812F}"/>
              </a:ext>
            </a:extLst>
          </p:cNvPr>
          <p:cNvSpPr>
            <a:spLocks noGrp="1"/>
          </p:cNvSpPr>
          <p:nvPr/>
        </p:nvSpPr>
        <p:spPr>
          <a:xfrm>
            <a:off x="762000" y="2190750"/>
            <a:ext cx="3352800" cy="2952750"/>
          </a:xfrm>
          <a:prstGeom prst="rect">
            <a:avLst/>
          </a:prstGeom>
          <a:solidFill>
            <a:srgbClr val="F4F7F8"/>
          </a:solidFill>
          <a:ln w="0">
            <a:noFill/>
          </a:ln>
        </p:spPr>
        <p:txBody>
          <a:bodyPr/>
          <a:lstStyle/>
          <a:p>
            <a:endParaRPr lang="en-IN"/>
          </a:p>
        </p:txBody>
      </p:sp>
      <p:sp>
        <p:nvSpPr>
          <p:cNvPr id="7" name="Rectangle 6">
            <a:extLst>
              <a:ext uri="{FF2B5EF4-FFF2-40B4-BE49-F238E27FC236}">
                <a16:creationId xmlns:a16="http://schemas.microsoft.com/office/drawing/2014/main" id="{1D1ADECF-FE4F-46FC-A0F9-69069F52BC68}"/>
              </a:ext>
            </a:extLst>
          </p:cNvPr>
          <p:cNvSpPr>
            <a:spLocks noGrp="1"/>
          </p:cNvSpPr>
          <p:nvPr/>
        </p:nvSpPr>
        <p:spPr>
          <a:xfrm>
            <a:off x="990600" y="2409825"/>
            <a:ext cx="2895600" cy="381000"/>
          </a:xfrm>
          <a:prstGeom prst="rect">
            <a:avLst/>
          </a:prstGeom>
          <a:noFill/>
          <a:ln w="0">
            <a:noFill/>
          </a:ln>
        </p:spPr>
        <p:txBody>
          <a:bodyPr lIns="0" tIns="0" rIns="0" bIns="0" anchor="t">
            <a:noAutofit/>
          </a:bodyPr>
          <a:lstStyle/>
          <a:p>
            <a:pPr algn="l">
              <a:defRPr sz="2175" b="1">
                <a:solidFill>
                  <a:srgbClr val="117D79"/>
                </a:solidFill>
                <a:latin typeface="Inter"/>
                <a:ea typeface="Inter"/>
                <a:cs typeface="Inter"/>
              </a:defRPr>
            </a:pPr>
            <a:r>
              <a:rPr sz="2175" b="1">
                <a:solidFill>
                  <a:srgbClr val="117D79"/>
                </a:solidFill>
                <a:latin typeface="Inter"/>
                <a:ea typeface="Inter"/>
                <a:cs typeface="Inter"/>
              </a:rPr>
              <a:t>01</a:t>
            </a:r>
          </a:p>
        </p:txBody>
      </p:sp>
      <p:sp>
        <p:nvSpPr>
          <p:cNvPr id="8" name="Rectangle 7">
            <a:extLst>
              <a:ext uri="{FF2B5EF4-FFF2-40B4-BE49-F238E27FC236}">
                <a16:creationId xmlns:a16="http://schemas.microsoft.com/office/drawing/2014/main" id="{3CFBE76B-8415-479E-B6CF-E8FE7CFFDC73}"/>
              </a:ext>
            </a:extLst>
          </p:cNvPr>
          <p:cNvSpPr>
            <a:spLocks noGrp="1"/>
          </p:cNvSpPr>
          <p:nvPr/>
        </p:nvSpPr>
        <p:spPr>
          <a:xfrm>
            <a:off x="990600" y="3019425"/>
            <a:ext cx="2895600" cy="714375"/>
          </a:xfrm>
          <a:prstGeom prst="rect">
            <a:avLst/>
          </a:prstGeom>
          <a:noFill/>
          <a:ln w="0">
            <a:noFill/>
          </a:ln>
        </p:spPr>
        <p:txBody>
          <a:bodyPr lIns="0" tIns="0" rIns="0" bIns="0" anchor="t">
            <a:noAutofit/>
          </a:bodyPr>
          <a:lstStyle/>
          <a:p>
            <a:pPr algn="l">
              <a:defRPr sz="2025" b="1">
                <a:solidFill>
                  <a:srgbClr val="101A2E"/>
                </a:solidFill>
                <a:latin typeface="Inter"/>
                <a:ea typeface="Inter"/>
                <a:cs typeface="Inter"/>
              </a:defRPr>
            </a:pPr>
            <a:r>
              <a:rPr sz="2025" b="1">
                <a:solidFill>
                  <a:srgbClr val="101A2E"/>
                </a:solidFill>
                <a:latin typeface="Inter"/>
                <a:ea typeface="Inter"/>
                <a:cs typeface="Inter"/>
              </a:rPr>
              <a:t>Find the requirement</a:t>
            </a:r>
          </a:p>
        </p:txBody>
      </p:sp>
      <p:sp>
        <p:nvSpPr>
          <p:cNvPr id="9" name="Rectangle 8">
            <a:extLst>
              <a:ext uri="{FF2B5EF4-FFF2-40B4-BE49-F238E27FC236}">
                <a16:creationId xmlns:a16="http://schemas.microsoft.com/office/drawing/2014/main" id="{03DD05BE-3ED5-4EF8-B54D-74FDE5279599}"/>
              </a:ext>
            </a:extLst>
          </p:cNvPr>
          <p:cNvSpPr>
            <a:spLocks noGrp="1"/>
          </p:cNvSpPr>
          <p:nvPr/>
        </p:nvSpPr>
        <p:spPr>
          <a:xfrm>
            <a:off x="990600" y="3857625"/>
            <a:ext cx="2895600" cy="1104900"/>
          </a:xfrm>
          <a:prstGeom prst="rect">
            <a:avLst/>
          </a:prstGeom>
          <a:noFill/>
          <a:ln w="0">
            <a:noFill/>
          </a:ln>
        </p:spPr>
        <p:txBody>
          <a:bodyPr lIns="0" tIns="0" rIns="0" bIns="0" anchor="t">
            <a:noAutofit/>
          </a:bodyPr>
          <a:lstStyle/>
          <a:p>
            <a:pPr algn="l">
              <a:defRPr sz="1725" b="0">
                <a:solidFill>
                  <a:srgbClr val="596C84"/>
                </a:solidFill>
                <a:latin typeface="Inter"/>
                <a:ea typeface="Inter"/>
                <a:cs typeface="Inter"/>
              </a:defRPr>
            </a:pPr>
            <a:r>
              <a:rPr sz="1725" b="0">
                <a:solidFill>
                  <a:srgbClr val="596C84"/>
                </a:solidFill>
                <a:latin typeface="Inter"/>
                <a:ea typeface="Inter"/>
                <a:cs typeface="Inter"/>
              </a:rPr>
              <a:t>One question may span</a:t>
            </a:r>
          </a:p>
          <a:p>
            <a:pPr algn="l">
              <a:defRPr sz="1725" b="0">
                <a:solidFill>
                  <a:srgbClr val="596C84"/>
                </a:solidFill>
                <a:latin typeface="Inter"/>
                <a:ea typeface="Inter"/>
                <a:cs typeface="Inter"/>
              </a:defRPr>
            </a:pPr>
            <a:r>
              <a:rPr sz="1725" b="0">
                <a:solidFill>
                  <a:srgbClr val="596C84"/>
                </a:solidFill>
                <a:latin typeface="Inter"/>
                <a:ea typeface="Inter"/>
                <a:cs typeface="Inter"/>
              </a:rPr>
              <a:t>several circulars and</a:t>
            </a:r>
          </a:p>
          <a:p>
            <a:pPr algn="l">
              <a:defRPr sz="1725" b="0">
                <a:solidFill>
                  <a:srgbClr val="596C84"/>
                </a:solidFill>
                <a:latin typeface="Inter"/>
                <a:ea typeface="Inter"/>
                <a:cs typeface="Inter"/>
              </a:defRPr>
            </a:pPr>
            <a:r>
              <a:rPr sz="1725" b="0">
                <a:solidFill>
                  <a:srgbClr val="596C84"/>
                </a:solidFill>
                <a:latin typeface="Inter"/>
                <a:ea typeface="Inter"/>
                <a:cs typeface="Inter"/>
              </a:rPr>
              <a:t>later clarifications.</a:t>
            </a:r>
          </a:p>
        </p:txBody>
      </p:sp>
      <p:sp>
        <p:nvSpPr>
          <p:cNvPr id="10" name="Rectangle 9">
            <a:extLst>
              <a:ext uri="{FF2B5EF4-FFF2-40B4-BE49-F238E27FC236}">
                <a16:creationId xmlns:a16="http://schemas.microsoft.com/office/drawing/2014/main" id="{EA7FC34E-5DF3-4795-981D-24F49F2E9706}"/>
              </a:ext>
            </a:extLst>
          </p:cNvPr>
          <p:cNvSpPr>
            <a:spLocks noGrp="1"/>
          </p:cNvSpPr>
          <p:nvPr/>
        </p:nvSpPr>
        <p:spPr>
          <a:xfrm>
            <a:off x="4419600" y="2190750"/>
            <a:ext cx="3352800" cy="2952750"/>
          </a:xfrm>
          <a:prstGeom prst="rect">
            <a:avLst/>
          </a:prstGeom>
          <a:solidFill>
            <a:srgbClr val="F4F7F8"/>
          </a:solidFill>
          <a:ln w="0">
            <a:noFill/>
          </a:ln>
        </p:spPr>
        <p:txBody>
          <a:bodyPr/>
          <a:lstStyle/>
          <a:p>
            <a:endParaRPr lang="en-IN"/>
          </a:p>
        </p:txBody>
      </p:sp>
      <p:sp>
        <p:nvSpPr>
          <p:cNvPr id="11" name="Rectangle 10">
            <a:extLst>
              <a:ext uri="{FF2B5EF4-FFF2-40B4-BE49-F238E27FC236}">
                <a16:creationId xmlns:a16="http://schemas.microsoft.com/office/drawing/2014/main" id="{0CC3AB1D-70F1-4376-A4AC-28F8E64CF682}"/>
              </a:ext>
            </a:extLst>
          </p:cNvPr>
          <p:cNvSpPr>
            <a:spLocks noGrp="1"/>
          </p:cNvSpPr>
          <p:nvPr/>
        </p:nvSpPr>
        <p:spPr>
          <a:xfrm>
            <a:off x="4648200" y="2409825"/>
            <a:ext cx="2895600" cy="381000"/>
          </a:xfrm>
          <a:prstGeom prst="rect">
            <a:avLst/>
          </a:prstGeom>
          <a:noFill/>
          <a:ln w="0">
            <a:noFill/>
          </a:ln>
        </p:spPr>
        <p:txBody>
          <a:bodyPr lIns="0" tIns="0" rIns="0" bIns="0" anchor="t">
            <a:noAutofit/>
          </a:bodyPr>
          <a:lstStyle/>
          <a:p>
            <a:pPr algn="l">
              <a:defRPr sz="2175" b="1">
                <a:solidFill>
                  <a:srgbClr val="117D79"/>
                </a:solidFill>
                <a:latin typeface="Inter"/>
                <a:ea typeface="Inter"/>
                <a:cs typeface="Inter"/>
              </a:defRPr>
            </a:pPr>
            <a:r>
              <a:rPr sz="2175" b="1">
                <a:solidFill>
                  <a:srgbClr val="117D79"/>
                </a:solidFill>
                <a:latin typeface="Inter"/>
                <a:ea typeface="Inter"/>
                <a:cs typeface="Inter"/>
              </a:rPr>
              <a:t>02</a:t>
            </a:r>
          </a:p>
        </p:txBody>
      </p:sp>
      <p:sp>
        <p:nvSpPr>
          <p:cNvPr id="12" name="Rectangle 11">
            <a:extLst>
              <a:ext uri="{FF2B5EF4-FFF2-40B4-BE49-F238E27FC236}">
                <a16:creationId xmlns:a16="http://schemas.microsoft.com/office/drawing/2014/main" id="{B070C9FB-511D-465A-8EE5-EE597611B5EC}"/>
              </a:ext>
            </a:extLst>
          </p:cNvPr>
          <p:cNvSpPr>
            <a:spLocks noGrp="1"/>
          </p:cNvSpPr>
          <p:nvPr/>
        </p:nvSpPr>
        <p:spPr>
          <a:xfrm>
            <a:off x="4648200" y="3019425"/>
            <a:ext cx="2895600" cy="714375"/>
          </a:xfrm>
          <a:prstGeom prst="rect">
            <a:avLst/>
          </a:prstGeom>
          <a:noFill/>
          <a:ln w="0">
            <a:noFill/>
          </a:ln>
        </p:spPr>
        <p:txBody>
          <a:bodyPr lIns="0" tIns="0" rIns="0" bIns="0" anchor="t">
            <a:noAutofit/>
          </a:bodyPr>
          <a:lstStyle/>
          <a:p>
            <a:pPr algn="l">
              <a:defRPr sz="2025" b="1">
                <a:solidFill>
                  <a:srgbClr val="101A2E"/>
                </a:solidFill>
                <a:latin typeface="Inter"/>
                <a:ea typeface="Inter"/>
                <a:cs typeface="Inter"/>
              </a:defRPr>
            </a:pPr>
            <a:r>
              <a:rPr sz="2025" b="1">
                <a:solidFill>
                  <a:srgbClr val="101A2E"/>
                </a:solidFill>
                <a:latin typeface="Inter"/>
                <a:ea typeface="Inter"/>
                <a:cs typeface="Inter"/>
              </a:rPr>
              <a:t>Understand conditions</a:t>
            </a:r>
          </a:p>
        </p:txBody>
      </p:sp>
      <p:sp>
        <p:nvSpPr>
          <p:cNvPr id="13" name="Rectangle 12">
            <a:extLst>
              <a:ext uri="{FF2B5EF4-FFF2-40B4-BE49-F238E27FC236}">
                <a16:creationId xmlns:a16="http://schemas.microsoft.com/office/drawing/2014/main" id="{B00F2837-60E9-45AE-93A3-15D35C51F97A}"/>
              </a:ext>
            </a:extLst>
          </p:cNvPr>
          <p:cNvSpPr>
            <a:spLocks noGrp="1"/>
          </p:cNvSpPr>
          <p:nvPr/>
        </p:nvSpPr>
        <p:spPr>
          <a:xfrm>
            <a:off x="4648200" y="3857625"/>
            <a:ext cx="2895600" cy="1104900"/>
          </a:xfrm>
          <a:prstGeom prst="rect">
            <a:avLst/>
          </a:prstGeom>
          <a:noFill/>
          <a:ln w="0">
            <a:noFill/>
          </a:ln>
        </p:spPr>
        <p:txBody>
          <a:bodyPr lIns="0" tIns="0" rIns="0" bIns="0" anchor="t">
            <a:noAutofit/>
          </a:bodyPr>
          <a:lstStyle/>
          <a:p>
            <a:pPr algn="l">
              <a:defRPr sz="1725" b="0">
                <a:solidFill>
                  <a:srgbClr val="596C84"/>
                </a:solidFill>
                <a:latin typeface="Inter"/>
                <a:ea typeface="Inter"/>
                <a:cs typeface="Inter"/>
              </a:defRPr>
            </a:pPr>
            <a:r>
              <a:rPr sz="1725" b="0">
                <a:solidFill>
                  <a:srgbClr val="596C84"/>
                </a:solidFill>
                <a:latin typeface="Inter"/>
                <a:ea typeface="Inter"/>
                <a:cs typeface="Inter"/>
              </a:rPr>
              <a:t>A relevant passage can</a:t>
            </a:r>
          </a:p>
          <a:p>
            <a:pPr algn="l">
              <a:defRPr sz="1725" b="0">
                <a:solidFill>
                  <a:srgbClr val="596C84"/>
                </a:solidFill>
                <a:latin typeface="Inter"/>
                <a:ea typeface="Inter"/>
                <a:cs typeface="Inter"/>
              </a:defRPr>
            </a:pPr>
            <a:r>
              <a:rPr sz="1725" b="0">
                <a:solidFill>
                  <a:srgbClr val="596C84"/>
                </a:solidFill>
                <a:latin typeface="Inter"/>
                <a:ea typeface="Inter"/>
                <a:cs typeface="Inter"/>
              </a:rPr>
              <a:t>still omit a qualification</a:t>
            </a:r>
          </a:p>
          <a:p>
            <a:pPr algn="l">
              <a:defRPr sz="1725" b="0">
                <a:solidFill>
                  <a:srgbClr val="596C84"/>
                </a:solidFill>
                <a:latin typeface="Inter"/>
                <a:ea typeface="Inter"/>
                <a:cs typeface="Inter"/>
              </a:defRPr>
            </a:pPr>
            <a:r>
              <a:rPr sz="1725" b="0">
                <a:solidFill>
                  <a:srgbClr val="596C84"/>
                </a:solidFill>
                <a:latin typeface="Inter"/>
                <a:ea typeface="Inter"/>
                <a:cs typeface="Inter"/>
              </a:rPr>
              <a:t>elsewhere in the source.</a:t>
            </a:r>
          </a:p>
        </p:txBody>
      </p:sp>
      <p:sp>
        <p:nvSpPr>
          <p:cNvPr id="14" name="Rectangle 13">
            <a:extLst>
              <a:ext uri="{FF2B5EF4-FFF2-40B4-BE49-F238E27FC236}">
                <a16:creationId xmlns:a16="http://schemas.microsoft.com/office/drawing/2014/main" id="{28D4146D-8D40-41BA-9EC8-8DDE7BF7FF9E}"/>
              </a:ext>
            </a:extLst>
          </p:cNvPr>
          <p:cNvSpPr>
            <a:spLocks noGrp="1"/>
          </p:cNvSpPr>
          <p:nvPr/>
        </p:nvSpPr>
        <p:spPr>
          <a:xfrm>
            <a:off x="8077200" y="2190750"/>
            <a:ext cx="3352800" cy="2952750"/>
          </a:xfrm>
          <a:prstGeom prst="rect">
            <a:avLst/>
          </a:prstGeom>
          <a:solidFill>
            <a:srgbClr val="F4F7F8"/>
          </a:solidFill>
          <a:ln w="0">
            <a:noFill/>
          </a:ln>
        </p:spPr>
        <p:txBody>
          <a:bodyPr/>
          <a:lstStyle/>
          <a:p>
            <a:endParaRPr lang="en-IN"/>
          </a:p>
        </p:txBody>
      </p:sp>
      <p:sp>
        <p:nvSpPr>
          <p:cNvPr id="15" name="Rectangle 14">
            <a:extLst>
              <a:ext uri="{FF2B5EF4-FFF2-40B4-BE49-F238E27FC236}">
                <a16:creationId xmlns:a16="http://schemas.microsoft.com/office/drawing/2014/main" id="{4BBF800F-53A2-4DAD-9981-DB463D7F9CDF}"/>
              </a:ext>
            </a:extLst>
          </p:cNvPr>
          <p:cNvSpPr>
            <a:spLocks noGrp="1"/>
          </p:cNvSpPr>
          <p:nvPr/>
        </p:nvSpPr>
        <p:spPr>
          <a:xfrm>
            <a:off x="8305800" y="2409825"/>
            <a:ext cx="2895600" cy="381000"/>
          </a:xfrm>
          <a:prstGeom prst="rect">
            <a:avLst/>
          </a:prstGeom>
          <a:noFill/>
          <a:ln w="0">
            <a:noFill/>
          </a:ln>
        </p:spPr>
        <p:txBody>
          <a:bodyPr lIns="0" tIns="0" rIns="0" bIns="0" anchor="t">
            <a:noAutofit/>
          </a:bodyPr>
          <a:lstStyle/>
          <a:p>
            <a:pPr algn="l">
              <a:defRPr sz="2175" b="1">
                <a:solidFill>
                  <a:srgbClr val="117D79"/>
                </a:solidFill>
                <a:latin typeface="Inter"/>
                <a:ea typeface="Inter"/>
                <a:cs typeface="Inter"/>
              </a:defRPr>
            </a:pPr>
            <a:r>
              <a:rPr sz="2175" b="1">
                <a:solidFill>
                  <a:srgbClr val="117D79"/>
                </a:solidFill>
                <a:latin typeface="Inter"/>
                <a:ea typeface="Inter"/>
                <a:cs typeface="Inter"/>
              </a:rPr>
              <a:t>03</a:t>
            </a:r>
          </a:p>
        </p:txBody>
      </p:sp>
      <p:sp>
        <p:nvSpPr>
          <p:cNvPr id="16" name="Rectangle 15">
            <a:extLst>
              <a:ext uri="{FF2B5EF4-FFF2-40B4-BE49-F238E27FC236}">
                <a16:creationId xmlns:a16="http://schemas.microsoft.com/office/drawing/2014/main" id="{37B37AFA-8216-443E-B4F6-A2D34AAE3144}"/>
              </a:ext>
            </a:extLst>
          </p:cNvPr>
          <p:cNvSpPr>
            <a:spLocks noGrp="1"/>
          </p:cNvSpPr>
          <p:nvPr/>
        </p:nvSpPr>
        <p:spPr>
          <a:xfrm>
            <a:off x="8305800" y="3019425"/>
            <a:ext cx="2895600" cy="714375"/>
          </a:xfrm>
          <a:prstGeom prst="rect">
            <a:avLst/>
          </a:prstGeom>
          <a:noFill/>
          <a:ln w="0">
            <a:noFill/>
          </a:ln>
        </p:spPr>
        <p:txBody>
          <a:bodyPr lIns="0" tIns="0" rIns="0" bIns="0" anchor="t">
            <a:noAutofit/>
          </a:bodyPr>
          <a:lstStyle/>
          <a:p>
            <a:pPr algn="l">
              <a:defRPr sz="2025" b="1">
                <a:solidFill>
                  <a:srgbClr val="101A2E"/>
                </a:solidFill>
                <a:latin typeface="Inter"/>
                <a:ea typeface="Inter"/>
                <a:cs typeface="Inter"/>
              </a:defRPr>
            </a:pPr>
            <a:r>
              <a:rPr sz="2025" b="1">
                <a:solidFill>
                  <a:srgbClr val="101A2E"/>
                </a:solidFill>
                <a:latin typeface="Inter"/>
                <a:ea typeface="Inter"/>
                <a:cs typeface="Inter"/>
              </a:rPr>
              <a:t>Verify the answer</a:t>
            </a:r>
          </a:p>
        </p:txBody>
      </p:sp>
      <p:sp>
        <p:nvSpPr>
          <p:cNvPr id="17" name="Rectangle 16">
            <a:extLst>
              <a:ext uri="{FF2B5EF4-FFF2-40B4-BE49-F238E27FC236}">
                <a16:creationId xmlns:a16="http://schemas.microsoft.com/office/drawing/2014/main" id="{FC095405-654E-4E7E-A8D7-29A3CA8D4A19}"/>
              </a:ext>
            </a:extLst>
          </p:cNvPr>
          <p:cNvSpPr>
            <a:spLocks noGrp="1"/>
          </p:cNvSpPr>
          <p:nvPr/>
        </p:nvSpPr>
        <p:spPr>
          <a:xfrm>
            <a:off x="8305800" y="3857625"/>
            <a:ext cx="2895600" cy="1104900"/>
          </a:xfrm>
          <a:prstGeom prst="rect">
            <a:avLst/>
          </a:prstGeom>
          <a:noFill/>
          <a:ln w="0">
            <a:noFill/>
          </a:ln>
        </p:spPr>
        <p:txBody>
          <a:bodyPr lIns="0" tIns="0" rIns="0" bIns="0" anchor="t">
            <a:noAutofit/>
          </a:bodyPr>
          <a:lstStyle/>
          <a:p>
            <a:pPr algn="l">
              <a:defRPr sz="1725" b="0">
                <a:solidFill>
                  <a:srgbClr val="596C84"/>
                </a:solidFill>
                <a:latin typeface="Inter"/>
                <a:ea typeface="Inter"/>
                <a:cs typeface="Inter"/>
              </a:defRPr>
            </a:pPr>
            <a:r>
              <a:rPr sz="1725" b="0">
                <a:solidFill>
                  <a:srgbClr val="596C84"/>
                </a:solidFill>
                <a:latin typeface="Inter"/>
                <a:ea typeface="Inter"/>
                <a:cs typeface="Inter"/>
              </a:rPr>
              <a:t>Users need to see which</a:t>
            </a:r>
          </a:p>
          <a:p>
            <a:pPr algn="l">
              <a:defRPr sz="1725" b="0">
                <a:solidFill>
                  <a:srgbClr val="596C84"/>
                </a:solidFill>
                <a:latin typeface="Inter"/>
                <a:ea typeface="Inter"/>
                <a:cs typeface="Inter"/>
              </a:defRPr>
            </a:pPr>
            <a:r>
              <a:rPr sz="1725" b="0">
                <a:solidFill>
                  <a:srgbClr val="596C84"/>
                </a:solidFill>
                <a:latin typeface="Inter"/>
                <a:ea typeface="Inter"/>
                <a:cs typeface="Inter"/>
              </a:rPr>
              <a:t>guideline supports each</a:t>
            </a:r>
          </a:p>
          <a:p>
            <a:pPr algn="l">
              <a:defRPr sz="1725" b="0">
                <a:solidFill>
                  <a:srgbClr val="596C84"/>
                </a:solidFill>
                <a:latin typeface="Inter"/>
                <a:ea typeface="Inter"/>
                <a:cs typeface="Inter"/>
              </a:defRPr>
            </a:pPr>
            <a:r>
              <a:rPr sz="1725" b="0">
                <a:solidFill>
                  <a:srgbClr val="596C84"/>
                </a:solidFill>
                <a:latin typeface="Inter"/>
                <a:ea typeface="Inter"/>
                <a:cs typeface="Inter"/>
              </a:rPr>
              <a:t>important statement.</a:t>
            </a:r>
          </a:p>
        </p:txBody>
      </p:sp>
      <p:sp>
        <p:nvSpPr>
          <p:cNvPr id="18" name="Rectangle 17">
            <a:extLst>
              <a:ext uri="{FF2B5EF4-FFF2-40B4-BE49-F238E27FC236}">
                <a16:creationId xmlns:a16="http://schemas.microsoft.com/office/drawing/2014/main" id="{E4751A53-9284-4E28-A4DC-76862960782D}"/>
              </a:ext>
            </a:extLst>
          </p:cNvPr>
          <p:cNvSpPr>
            <a:spLocks noGrp="1"/>
          </p:cNvSpPr>
          <p:nvPr/>
        </p:nvSpPr>
        <p:spPr>
          <a:xfrm>
            <a:off x="762000" y="5600700"/>
            <a:ext cx="10668000" cy="495300"/>
          </a:xfrm>
          <a:prstGeom prst="rect">
            <a:avLst/>
          </a:prstGeom>
          <a:noFill/>
          <a:ln w="0">
            <a:noFill/>
          </a:ln>
        </p:spPr>
        <p:txBody>
          <a:bodyPr lIns="0" tIns="0" rIns="0" bIns="0" anchor="t">
            <a:noAutofit/>
          </a:bodyPr>
          <a:lstStyle/>
          <a:p>
            <a:pPr algn="l">
              <a:defRPr sz="1875" b="0">
                <a:solidFill>
                  <a:srgbClr val="117D79"/>
                </a:solidFill>
                <a:latin typeface="Inter"/>
                <a:ea typeface="Inter"/>
                <a:cs typeface="Inter"/>
              </a:defRPr>
            </a:pPr>
            <a:r>
              <a:rPr sz="1875" b="0">
                <a:solidFill>
                  <a:srgbClr val="117D79"/>
                </a:solidFill>
                <a:latin typeface="Inter"/>
                <a:ea typeface="Inter"/>
                <a:cs typeface="Inter"/>
              </a:rPr>
              <a:t>Goal: reduce research effort while keeping source checking part of the task.</a:t>
            </a:r>
          </a:p>
        </p:txBody>
      </p:sp>
    </p:spTree>
    <p:extLst>
      <p:ext uri="{BB962C8B-B14F-4D97-AF65-F5344CB8AC3E}">
        <p14:creationId xmlns:p14="http://schemas.microsoft.com/office/powerpoint/2010/main" val="15037631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FF1D5D2-F4A7-47B4-8D7F-C759768F8A0D}"/>
              </a:ext>
            </a:extLst>
          </p:cNvPr>
          <p:cNvSpPr>
            <a:spLocks noGrp="1"/>
          </p:cNvSpPr>
          <p:nvPr/>
        </p:nvSpPr>
        <p:spPr>
          <a:xfrm>
            <a:off x="0" y="0"/>
            <a:ext cx="12192000" cy="57150"/>
          </a:xfrm>
          <a:prstGeom prst="rect">
            <a:avLst/>
          </a:prstGeom>
          <a:solidFill>
            <a:srgbClr val="117D79"/>
          </a:solidFill>
          <a:ln w="0">
            <a:noFill/>
          </a:ln>
        </p:spPr>
        <p:txBody>
          <a:bodyPr/>
          <a:lstStyle/>
          <a:p>
            <a:endParaRPr lang="en-IN"/>
          </a:p>
        </p:txBody>
      </p:sp>
      <p:sp>
        <p:nvSpPr>
          <p:cNvPr id="2" name="Rectangle 1">
            <a:extLst>
              <a:ext uri="{FF2B5EF4-FFF2-40B4-BE49-F238E27FC236}">
                <a16:creationId xmlns:a16="http://schemas.microsoft.com/office/drawing/2014/main" id="{2D50FAB5-1B30-423C-AAFC-09439DF2CC12}"/>
              </a:ext>
            </a:extLst>
          </p:cNvPr>
          <p:cNvSpPr>
            <a:spLocks noGrp="1"/>
          </p:cNvSpPr>
          <p:nvPr/>
        </p:nvSpPr>
        <p:spPr>
          <a:xfrm>
            <a:off x="723900" y="533400"/>
            <a:ext cx="10763250" cy="714375"/>
          </a:xfrm>
          <a:prstGeom prst="rect">
            <a:avLst/>
          </a:prstGeom>
          <a:noFill/>
          <a:ln w="0">
            <a:noFill/>
          </a:ln>
        </p:spPr>
        <p:txBody>
          <a:bodyPr lIns="0" tIns="0" rIns="0" bIns="0" anchor="t">
            <a:noAutofit/>
          </a:bodyPr>
          <a:lstStyle/>
          <a:p>
            <a:pPr algn="l">
              <a:defRPr sz="3150" b="0">
                <a:solidFill>
                  <a:srgbClr val="101A2E"/>
                </a:solidFill>
                <a:latin typeface="Georgia"/>
                <a:ea typeface="Georgia"/>
                <a:cs typeface="Georgia"/>
              </a:defRPr>
            </a:pPr>
            <a:r>
              <a:rPr sz="3150" b="0">
                <a:solidFill>
                  <a:srgbClr val="101A2E"/>
                </a:solidFill>
                <a:latin typeface="Georgia"/>
                <a:ea typeface="Georgia"/>
                <a:cs typeface="Georgia"/>
              </a:rPr>
              <a:t>Proposed Solution</a:t>
            </a:r>
          </a:p>
        </p:txBody>
      </p:sp>
      <p:sp>
        <p:nvSpPr>
          <p:cNvPr id="3" name="Rectangle 2">
            <a:extLst>
              <a:ext uri="{FF2B5EF4-FFF2-40B4-BE49-F238E27FC236}">
                <a16:creationId xmlns:a16="http://schemas.microsoft.com/office/drawing/2014/main" id="{1850EE11-3255-4143-9054-96AFA0E45FB4}"/>
              </a:ext>
            </a:extLst>
          </p:cNvPr>
          <p:cNvSpPr>
            <a:spLocks noGrp="1"/>
          </p:cNvSpPr>
          <p:nvPr/>
        </p:nvSpPr>
        <p:spPr>
          <a:xfrm>
            <a:off x="742950" y="1343025"/>
            <a:ext cx="10620375" cy="381000"/>
          </a:xfrm>
          <a:prstGeom prst="rect">
            <a:avLst/>
          </a:prstGeom>
          <a:noFill/>
          <a:ln w="0">
            <a:noFill/>
          </a:ln>
        </p:spPr>
        <p:txBody>
          <a:bodyPr lIns="0" tIns="0" rIns="0" bIns="0" anchor="t">
            <a:noAutofit/>
          </a:bodyPr>
          <a:lstStyle/>
          <a:p>
            <a:pPr algn="l">
              <a:defRPr sz="1500" b="0">
                <a:solidFill>
                  <a:srgbClr val="596C84"/>
                </a:solidFill>
                <a:latin typeface="Inter"/>
                <a:ea typeface="Inter"/>
                <a:cs typeface="Inter"/>
              </a:defRPr>
            </a:pPr>
            <a:r>
              <a:rPr sz="1500" b="0">
                <a:solidFill>
                  <a:srgbClr val="596C84"/>
                </a:solidFill>
                <a:latin typeface="Inter"/>
                <a:ea typeface="Inter"/>
                <a:cs typeface="Inter"/>
              </a:rPr>
              <a:t>A plain-language question, a cited answer and a source the user can inspect</a:t>
            </a:r>
          </a:p>
        </p:txBody>
      </p:sp>
      <p:sp>
        <p:nvSpPr>
          <p:cNvPr id="4" name="Rectangle 3">
            <a:extLst>
              <a:ext uri="{FF2B5EF4-FFF2-40B4-BE49-F238E27FC236}">
                <a16:creationId xmlns:a16="http://schemas.microsoft.com/office/drawing/2014/main" id="{1D864375-6BA3-481B-A19C-62C9D83790BB}"/>
              </a:ext>
            </a:extLst>
          </p:cNvPr>
          <p:cNvSpPr>
            <a:spLocks noGrp="1"/>
          </p:cNvSpPr>
          <p:nvPr/>
        </p:nvSpPr>
        <p:spPr>
          <a:xfrm>
            <a:off x="742950" y="6410325"/>
            <a:ext cx="9620250" cy="209550"/>
          </a:xfrm>
          <a:prstGeom prst="rect">
            <a:avLst/>
          </a:prstGeom>
          <a:noFill/>
          <a:ln w="0">
            <a:noFill/>
          </a:ln>
        </p:spPr>
        <p:txBody>
          <a:bodyPr lIns="0" tIns="0" rIns="0" bIns="0" anchor="t">
            <a:noAutofit/>
          </a:bodyPr>
          <a:lstStyle/>
          <a:p>
            <a:pPr algn="l">
              <a:defRPr sz="1050" b="0">
                <a:solidFill>
                  <a:srgbClr val="596C84"/>
                </a:solidFill>
                <a:latin typeface="Inter"/>
                <a:ea typeface="Inter"/>
                <a:cs typeface="Inter"/>
              </a:defRPr>
            </a:pPr>
            <a:r>
              <a:rPr sz="1050" b="0">
                <a:solidFill>
                  <a:srgbClr val="596C84"/>
                </a:solidFill>
                <a:latin typeface="Inter"/>
                <a:ea typeface="Inter"/>
                <a:cs typeface="Inter"/>
              </a:rPr>
              <a:t>Payments Guidelines Query Expert   /   Midterm capstone</a:t>
            </a:r>
          </a:p>
        </p:txBody>
      </p:sp>
      <p:sp>
        <p:nvSpPr>
          <p:cNvPr id="5" name="Rectangle 4">
            <a:extLst>
              <a:ext uri="{FF2B5EF4-FFF2-40B4-BE49-F238E27FC236}">
                <a16:creationId xmlns:a16="http://schemas.microsoft.com/office/drawing/2014/main" id="{DD2B6870-DB6D-4F50-A279-2142AAB46205}"/>
              </a:ext>
            </a:extLst>
          </p:cNvPr>
          <p:cNvSpPr>
            <a:spLocks noGrp="1"/>
          </p:cNvSpPr>
          <p:nvPr/>
        </p:nvSpPr>
        <p:spPr>
          <a:xfrm>
            <a:off x="11049000" y="6410325"/>
            <a:ext cx="476250" cy="238125"/>
          </a:xfrm>
          <a:prstGeom prst="rect">
            <a:avLst/>
          </a:prstGeom>
          <a:noFill/>
          <a:ln w="0">
            <a:noFill/>
          </a:ln>
        </p:spPr>
        <p:txBody>
          <a:bodyPr lIns="0" tIns="0" rIns="0" bIns="0" anchor="t">
            <a:noAutofit/>
          </a:bodyPr>
          <a:lstStyle/>
          <a:p>
            <a:pPr algn="l">
              <a:defRPr sz="1200" b="1">
                <a:solidFill>
                  <a:srgbClr val="117D79"/>
                </a:solidFill>
                <a:latin typeface="Inter"/>
                <a:ea typeface="Inter"/>
                <a:cs typeface="Inter"/>
              </a:defRPr>
            </a:pPr>
            <a:r>
              <a:rPr sz="1200" b="1">
                <a:solidFill>
                  <a:srgbClr val="117D79"/>
                </a:solidFill>
                <a:latin typeface="Inter"/>
                <a:ea typeface="Inter"/>
                <a:cs typeface="Inter"/>
              </a:rPr>
              <a:t>03</a:t>
            </a:r>
          </a:p>
        </p:txBody>
      </p:sp>
      <p:sp>
        <p:nvSpPr>
          <p:cNvPr id="6" name="Rectangle 5">
            <a:extLst>
              <a:ext uri="{FF2B5EF4-FFF2-40B4-BE49-F238E27FC236}">
                <a16:creationId xmlns:a16="http://schemas.microsoft.com/office/drawing/2014/main" id="{C0C22A8B-C3DB-4DDE-9BD7-CEC334964638}"/>
              </a:ext>
            </a:extLst>
          </p:cNvPr>
          <p:cNvSpPr>
            <a:spLocks noGrp="1"/>
          </p:cNvSpPr>
          <p:nvPr/>
        </p:nvSpPr>
        <p:spPr>
          <a:xfrm>
            <a:off x="762000" y="1866900"/>
            <a:ext cx="10668000" cy="247650"/>
          </a:xfrm>
          <a:prstGeom prst="rect">
            <a:avLst/>
          </a:prstGeom>
          <a:noFill/>
          <a:ln w="0">
            <a:noFill/>
          </a:ln>
        </p:spPr>
        <p:txBody>
          <a:bodyPr lIns="0" tIns="0" rIns="0" bIns="0" anchor="t">
            <a:noAutofit/>
          </a:bodyPr>
          <a:lstStyle/>
          <a:p>
            <a:pPr algn="l">
              <a:defRPr sz="1200" b="1">
                <a:solidFill>
                  <a:srgbClr val="117D79"/>
                </a:solidFill>
                <a:latin typeface="Inter"/>
                <a:ea typeface="Inter"/>
                <a:cs typeface="Inter"/>
              </a:defRPr>
            </a:pPr>
            <a:r>
              <a:rPr sz="1200" b="1">
                <a:solidFill>
                  <a:srgbClr val="117D79"/>
                </a:solidFill>
                <a:latin typeface="Inter"/>
                <a:ea typeface="Inter"/>
                <a:cs typeface="Inter"/>
              </a:rPr>
              <a:t>QUESTION ASKED</a:t>
            </a:r>
          </a:p>
        </p:txBody>
      </p:sp>
      <p:sp>
        <p:nvSpPr>
          <p:cNvPr id="7" name="Rectangle 6">
            <a:extLst>
              <a:ext uri="{FF2B5EF4-FFF2-40B4-BE49-F238E27FC236}">
                <a16:creationId xmlns:a16="http://schemas.microsoft.com/office/drawing/2014/main" id="{83191AE3-8002-45B4-8783-B6AAE74818C7}"/>
              </a:ext>
            </a:extLst>
          </p:cNvPr>
          <p:cNvSpPr>
            <a:spLocks noGrp="1"/>
          </p:cNvSpPr>
          <p:nvPr/>
        </p:nvSpPr>
        <p:spPr>
          <a:xfrm>
            <a:off x="762000" y="2181225"/>
            <a:ext cx="10668000" cy="466725"/>
          </a:xfrm>
          <a:prstGeom prst="rect">
            <a:avLst/>
          </a:prstGeom>
          <a:noFill/>
          <a:ln w="0">
            <a:noFill/>
          </a:ln>
        </p:spPr>
        <p:txBody>
          <a:bodyPr lIns="0" tIns="0" rIns="0" bIns="0" anchor="t">
            <a:noAutofit/>
          </a:bodyPr>
          <a:lstStyle/>
          <a:p>
            <a:pPr algn="l">
              <a:defRPr sz="2175" b="1">
                <a:solidFill>
                  <a:srgbClr val="101A2E"/>
                </a:solidFill>
                <a:latin typeface="Inter"/>
                <a:ea typeface="Inter"/>
                <a:cs typeface="Inter"/>
              </a:defRPr>
            </a:pPr>
            <a:r>
              <a:rPr sz="2175" b="1">
                <a:solidFill>
                  <a:srgbClr val="101A2E"/>
                </a:solidFill>
                <a:latin typeface="Inter"/>
                <a:ea typeface="Inter"/>
                <a:cs typeface="Inter"/>
              </a:rPr>
              <a:t>Can I use UPI Tap &amp; Pay at a shop’s card machine?</a:t>
            </a:r>
          </a:p>
        </p:txBody>
      </p:sp>
      <p:pic>
        <p:nvPicPr>
          <p:cNvPr id="19" name="Picture 18"/>
          <p:cNvPicPr>
            <a:picLocks noChangeAspect="1"/>
          </p:cNvPicPr>
          <p:nvPr/>
        </p:nvPicPr>
        <p:blipFill>
          <a:blip r:embed="rId3"/>
          <a:stretch/>
        </p:blipFill>
        <p:spPr>
          <a:xfrm>
            <a:off x="765066" y="2714625"/>
            <a:ext cx="8852119" cy="3400425"/>
          </a:xfrm>
          <a:prstGeom prst="rect">
            <a:avLst/>
          </a:prstGeom>
        </p:spPr>
      </p:pic>
      <p:sp>
        <p:nvSpPr>
          <p:cNvPr id="9" name="Rectangle 8">
            <a:extLst>
              <a:ext uri="{FF2B5EF4-FFF2-40B4-BE49-F238E27FC236}">
                <a16:creationId xmlns:a16="http://schemas.microsoft.com/office/drawing/2014/main" id="{38E547B0-CD8D-414D-AFC5-93803C7BB569}"/>
              </a:ext>
            </a:extLst>
          </p:cNvPr>
          <p:cNvSpPr>
            <a:spLocks noGrp="1"/>
          </p:cNvSpPr>
          <p:nvPr/>
        </p:nvSpPr>
        <p:spPr>
          <a:xfrm>
            <a:off x="9906000" y="2962275"/>
            <a:ext cx="1590675" cy="381000"/>
          </a:xfrm>
          <a:prstGeom prst="rect">
            <a:avLst/>
          </a:prstGeom>
          <a:noFill/>
          <a:ln w="0">
            <a:noFill/>
          </a:ln>
        </p:spPr>
        <p:txBody>
          <a:bodyPr lIns="0" tIns="0" rIns="0" bIns="0" anchor="t">
            <a:noAutofit/>
          </a:bodyPr>
          <a:lstStyle/>
          <a:p>
            <a:pPr algn="l">
              <a:defRPr sz="1875" b="1">
                <a:solidFill>
                  <a:srgbClr val="117D79"/>
                </a:solidFill>
                <a:latin typeface="Inter"/>
                <a:ea typeface="Inter"/>
                <a:cs typeface="Inter"/>
              </a:defRPr>
            </a:pPr>
            <a:r>
              <a:rPr sz="1875" b="1">
                <a:solidFill>
                  <a:srgbClr val="117D79"/>
                </a:solidFill>
                <a:latin typeface="Inter"/>
                <a:ea typeface="Inter"/>
                <a:cs typeface="Inter"/>
              </a:rPr>
              <a:t>Follow S1</a:t>
            </a:r>
          </a:p>
        </p:txBody>
      </p:sp>
      <p:sp>
        <p:nvSpPr>
          <p:cNvPr id="10" name="Rectangle 9">
            <a:extLst>
              <a:ext uri="{FF2B5EF4-FFF2-40B4-BE49-F238E27FC236}">
                <a16:creationId xmlns:a16="http://schemas.microsoft.com/office/drawing/2014/main" id="{6B3E8742-4E83-4512-8141-0C23DD08113C}"/>
              </a:ext>
            </a:extLst>
          </p:cNvPr>
          <p:cNvSpPr>
            <a:spLocks noGrp="1"/>
          </p:cNvSpPr>
          <p:nvPr/>
        </p:nvSpPr>
        <p:spPr>
          <a:xfrm>
            <a:off x="9906000" y="3514725"/>
            <a:ext cx="1590675" cy="1809750"/>
          </a:xfrm>
          <a:prstGeom prst="rect">
            <a:avLst/>
          </a:prstGeom>
          <a:noFill/>
          <a:ln w="0">
            <a:noFill/>
          </a:ln>
        </p:spPr>
        <p:txBody>
          <a:bodyPr lIns="0" tIns="0" rIns="0" bIns="0" anchor="t">
            <a:noAutofit/>
          </a:bodyPr>
          <a:lstStyle/>
          <a:p>
            <a:pPr algn="l">
              <a:defRPr sz="1575" b="0">
                <a:solidFill>
                  <a:srgbClr val="596C84"/>
                </a:solidFill>
                <a:latin typeface="Inter"/>
                <a:ea typeface="Inter"/>
                <a:cs typeface="Inter"/>
              </a:defRPr>
            </a:pPr>
            <a:r>
              <a:rPr sz="1575" b="0">
                <a:solidFill>
                  <a:srgbClr val="596C84"/>
                </a:solidFill>
                <a:latin typeface="Inter"/>
                <a:ea typeface="Inter"/>
                <a:cs typeface="Inter"/>
              </a:rPr>
              <a:t>UPI OC 186A</a:t>
            </a:r>
          </a:p>
          <a:p>
            <a:pPr algn="l">
              <a:defRPr sz="1575" b="0">
                <a:solidFill>
                  <a:srgbClr val="596C84"/>
                </a:solidFill>
                <a:latin typeface="Inter"/>
                <a:ea typeface="Inter"/>
                <a:cs typeface="Inter"/>
              </a:defRPr>
            </a:pPr>
            <a:r>
              <a:rPr sz="1575" b="0">
                <a:solidFill>
                  <a:srgbClr val="596C84"/>
                </a:solidFill>
                <a:latin typeface="Inter"/>
                <a:ea typeface="Inter"/>
                <a:cs typeface="Inter"/>
              </a:rPr>
              <a:t>Page 1</a:t>
            </a:r>
          </a:p>
          <a:p>
            <a:endParaRPr sz="1575" b="0">
              <a:solidFill>
                <a:srgbClr val="596C84"/>
              </a:solidFill>
              <a:latin typeface="Inter"/>
              <a:ea typeface="Inter"/>
              <a:cs typeface="Inter"/>
            </a:endParaRPr>
          </a:p>
          <a:p>
            <a:pPr algn="l">
              <a:defRPr sz="1575" b="0">
                <a:solidFill>
                  <a:srgbClr val="596C84"/>
                </a:solidFill>
                <a:latin typeface="Inter"/>
                <a:ea typeface="Inter"/>
                <a:cs typeface="Inter"/>
              </a:defRPr>
            </a:pPr>
            <a:r>
              <a:rPr sz="1575" b="0">
                <a:solidFill>
                  <a:srgbClr val="596C84"/>
                </a:solidFill>
                <a:latin typeface="Inter"/>
                <a:ea typeface="Inter"/>
                <a:cs typeface="Inter"/>
              </a:rPr>
              <a:t>NFC means</a:t>
            </a:r>
          </a:p>
          <a:p>
            <a:pPr algn="l">
              <a:defRPr sz="1575" b="0">
                <a:solidFill>
                  <a:srgbClr val="596C84"/>
                </a:solidFill>
                <a:latin typeface="Inter"/>
                <a:ea typeface="Inter"/>
                <a:cs typeface="Inter"/>
              </a:defRPr>
            </a:pPr>
            <a:r>
              <a:rPr sz="1575" b="0">
                <a:solidFill>
                  <a:srgbClr val="596C84"/>
                </a:solidFill>
                <a:latin typeface="Inter"/>
                <a:ea typeface="Inter"/>
                <a:cs typeface="Inter"/>
              </a:rPr>
              <a:t>contactless</a:t>
            </a:r>
          </a:p>
          <a:p>
            <a:pPr algn="l">
              <a:defRPr sz="1575" b="0">
                <a:solidFill>
                  <a:srgbClr val="596C84"/>
                </a:solidFill>
                <a:latin typeface="Inter"/>
                <a:ea typeface="Inter"/>
                <a:cs typeface="Inter"/>
              </a:defRPr>
            </a:pPr>
            <a:r>
              <a:rPr sz="1575" b="0">
                <a:solidFill>
                  <a:srgbClr val="596C84"/>
                </a:solidFill>
                <a:latin typeface="Inter"/>
                <a:ea typeface="Inter"/>
                <a:cs typeface="Inter"/>
              </a:rPr>
              <a:t>tap technology.</a:t>
            </a:r>
          </a:p>
        </p:txBody>
      </p:sp>
      <p:sp>
        <p:nvSpPr>
          <p:cNvPr id="11" name="Rectangle 10">
            <a:extLst>
              <a:ext uri="{FF2B5EF4-FFF2-40B4-BE49-F238E27FC236}">
                <a16:creationId xmlns:a16="http://schemas.microsoft.com/office/drawing/2014/main" id="{5CBCF12F-D932-4FF0-BCBE-4F420893737D}"/>
              </a:ext>
            </a:extLst>
          </p:cNvPr>
          <p:cNvSpPr>
            <a:spLocks noGrp="1"/>
          </p:cNvSpPr>
          <p:nvPr/>
        </p:nvSpPr>
        <p:spPr>
          <a:xfrm>
            <a:off x="762000" y="6143625"/>
            <a:ext cx="10668000" cy="228600"/>
          </a:xfrm>
          <a:prstGeom prst="rect">
            <a:avLst/>
          </a:prstGeom>
          <a:noFill/>
          <a:ln w="0">
            <a:noFill/>
          </a:ln>
        </p:spPr>
        <p:txBody>
          <a:bodyPr lIns="0" tIns="0" rIns="0" bIns="0" anchor="t">
            <a:noAutofit/>
          </a:bodyPr>
          <a:lstStyle/>
          <a:p>
            <a:pPr algn="l">
              <a:defRPr sz="1275" b="0">
                <a:solidFill>
                  <a:srgbClr val="596C84"/>
                </a:solidFill>
                <a:latin typeface="Inter"/>
                <a:ea typeface="Inter"/>
                <a:cs typeface="Inter"/>
              </a:defRPr>
            </a:pPr>
            <a:r>
              <a:rPr sz="1275" b="0">
                <a:solidFill>
                  <a:srgbClr val="596C84"/>
                </a:solidFill>
                <a:latin typeface="Inter"/>
                <a:ea typeface="Inter"/>
                <a:cs typeface="Inter"/>
              </a:rPr>
              <a:t>Also available: guideline search and inspection, summaries and document comparisons.</a:t>
            </a:r>
          </a:p>
        </p:txBody>
      </p:sp>
    </p:spTree>
    <p:extLst>
      <p:ext uri="{BB962C8B-B14F-4D97-AF65-F5344CB8AC3E}">
        <p14:creationId xmlns:p14="http://schemas.microsoft.com/office/powerpoint/2010/main" val="7253991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1EDCD1F9-F7BF-4233-92AA-3DD0C864DA79}"/>
              </a:ext>
            </a:extLst>
          </p:cNvPr>
          <p:cNvSpPr>
            <a:spLocks noGrp="1"/>
          </p:cNvSpPr>
          <p:nvPr/>
        </p:nvSpPr>
        <p:spPr>
          <a:xfrm>
            <a:off x="0" y="0"/>
            <a:ext cx="12192000" cy="57150"/>
          </a:xfrm>
          <a:prstGeom prst="rect">
            <a:avLst/>
          </a:prstGeom>
          <a:solidFill>
            <a:srgbClr val="117D79"/>
          </a:solidFill>
          <a:ln w="0">
            <a:noFill/>
          </a:ln>
        </p:spPr>
        <p:txBody>
          <a:bodyPr/>
          <a:lstStyle/>
          <a:p>
            <a:endParaRPr lang="en-IN"/>
          </a:p>
        </p:txBody>
      </p:sp>
      <p:sp>
        <p:nvSpPr>
          <p:cNvPr id="2" name="Rectangle 1">
            <a:extLst>
              <a:ext uri="{FF2B5EF4-FFF2-40B4-BE49-F238E27FC236}">
                <a16:creationId xmlns:a16="http://schemas.microsoft.com/office/drawing/2014/main" id="{837DD730-3636-45A7-BBA8-02709A0A1DCE}"/>
              </a:ext>
            </a:extLst>
          </p:cNvPr>
          <p:cNvSpPr>
            <a:spLocks noGrp="1"/>
          </p:cNvSpPr>
          <p:nvPr/>
        </p:nvSpPr>
        <p:spPr>
          <a:xfrm>
            <a:off x="723900" y="533400"/>
            <a:ext cx="10763250" cy="714375"/>
          </a:xfrm>
          <a:prstGeom prst="rect">
            <a:avLst/>
          </a:prstGeom>
          <a:noFill/>
          <a:ln w="0">
            <a:noFill/>
          </a:ln>
        </p:spPr>
        <p:txBody>
          <a:bodyPr lIns="0" tIns="0" rIns="0" bIns="0" anchor="t">
            <a:noAutofit/>
          </a:bodyPr>
          <a:lstStyle/>
          <a:p>
            <a:pPr algn="l">
              <a:defRPr sz="3150" b="0">
                <a:solidFill>
                  <a:srgbClr val="101A2E"/>
                </a:solidFill>
                <a:latin typeface="Georgia"/>
                <a:ea typeface="Georgia"/>
                <a:cs typeface="Georgia"/>
              </a:defRPr>
            </a:pPr>
            <a:r>
              <a:rPr sz="3150" b="0">
                <a:solidFill>
                  <a:srgbClr val="101A2E"/>
                </a:solidFill>
                <a:latin typeface="Georgia"/>
                <a:ea typeface="Georgia"/>
                <a:cs typeface="Georgia"/>
              </a:rPr>
              <a:t>Data Sources and Tools</a:t>
            </a:r>
          </a:p>
        </p:txBody>
      </p:sp>
      <p:sp>
        <p:nvSpPr>
          <p:cNvPr id="3" name="Rectangle 2">
            <a:extLst>
              <a:ext uri="{FF2B5EF4-FFF2-40B4-BE49-F238E27FC236}">
                <a16:creationId xmlns:a16="http://schemas.microsoft.com/office/drawing/2014/main" id="{956F27F2-C73C-4E61-8262-614BC10BCFC6}"/>
              </a:ext>
            </a:extLst>
          </p:cNvPr>
          <p:cNvSpPr>
            <a:spLocks noGrp="1"/>
          </p:cNvSpPr>
          <p:nvPr/>
        </p:nvSpPr>
        <p:spPr>
          <a:xfrm>
            <a:off x="742950" y="1343025"/>
            <a:ext cx="10620375" cy="381000"/>
          </a:xfrm>
          <a:prstGeom prst="rect">
            <a:avLst/>
          </a:prstGeom>
          <a:noFill/>
          <a:ln w="0">
            <a:noFill/>
          </a:ln>
        </p:spPr>
        <p:txBody>
          <a:bodyPr lIns="0" tIns="0" rIns="0" bIns="0" anchor="t">
            <a:noAutofit/>
          </a:bodyPr>
          <a:lstStyle/>
          <a:p>
            <a:pPr algn="l">
              <a:defRPr sz="1500" b="0">
                <a:solidFill>
                  <a:srgbClr val="596C84"/>
                </a:solidFill>
                <a:latin typeface="Inter"/>
                <a:ea typeface="Inter"/>
                <a:cs typeface="Inter"/>
              </a:defRPr>
            </a:pPr>
            <a:r>
              <a:rPr sz="1500" b="0">
                <a:solidFill>
                  <a:srgbClr val="596C84"/>
                </a:solidFill>
                <a:latin typeface="Inter"/>
                <a:ea typeface="Inter"/>
                <a:cs typeface="Inter"/>
              </a:rPr>
              <a:t>The How  /  An attributed knowledge base, starting with NPCI</a:t>
            </a:r>
          </a:p>
        </p:txBody>
      </p:sp>
      <p:sp>
        <p:nvSpPr>
          <p:cNvPr id="4" name="Rectangle 3">
            <a:extLst>
              <a:ext uri="{FF2B5EF4-FFF2-40B4-BE49-F238E27FC236}">
                <a16:creationId xmlns:a16="http://schemas.microsoft.com/office/drawing/2014/main" id="{50FEA7B2-3EA7-4EE2-A29C-BC5FC4C964ED}"/>
              </a:ext>
            </a:extLst>
          </p:cNvPr>
          <p:cNvSpPr>
            <a:spLocks noGrp="1"/>
          </p:cNvSpPr>
          <p:nvPr/>
        </p:nvSpPr>
        <p:spPr>
          <a:xfrm>
            <a:off x="742950" y="6410325"/>
            <a:ext cx="9620250" cy="209550"/>
          </a:xfrm>
          <a:prstGeom prst="rect">
            <a:avLst/>
          </a:prstGeom>
          <a:noFill/>
          <a:ln w="0">
            <a:noFill/>
          </a:ln>
        </p:spPr>
        <p:txBody>
          <a:bodyPr lIns="0" tIns="0" rIns="0" bIns="0" anchor="t">
            <a:noAutofit/>
          </a:bodyPr>
          <a:lstStyle/>
          <a:p>
            <a:pPr algn="l">
              <a:defRPr sz="1050" b="0">
                <a:solidFill>
                  <a:srgbClr val="596C84"/>
                </a:solidFill>
                <a:latin typeface="Inter"/>
                <a:ea typeface="Inter"/>
                <a:cs typeface="Inter"/>
              </a:defRPr>
            </a:pPr>
            <a:r>
              <a:rPr sz="1050" b="0">
                <a:solidFill>
                  <a:srgbClr val="596C84"/>
                </a:solidFill>
                <a:latin typeface="Inter"/>
                <a:ea typeface="Inter"/>
                <a:cs typeface="Inter"/>
              </a:rPr>
              <a:t>Payments Guidelines Query Expert   /   Midterm capstone</a:t>
            </a:r>
          </a:p>
        </p:txBody>
      </p:sp>
      <p:sp>
        <p:nvSpPr>
          <p:cNvPr id="5" name="Rectangle 4">
            <a:extLst>
              <a:ext uri="{FF2B5EF4-FFF2-40B4-BE49-F238E27FC236}">
                <a16:creationId xmlns:a16="http://schemas.microsoft.com/office/drawing/2014/main" id="{D6651E2C-38E6-4C91-B3C3-C6510ADD9707}"/>
              </a:ext>
            </a:extLst>
          </p:cNvPr>
          <p:cNvSpPr>
            <a:spLocks noGrp="1"/>
          </p:cNvSpPr>
          <p:nvPr/>
        </p:nvSpPr>
        <p:spPr>
          <a:xfrm>
            <a:off x="11049000" y="6410325"/>
            <a:ext cx="476250" cy="238125"/>
          </a:xfrm>
          <a:prstGeom prst="rect">
            <a:avLst/>
          </a:prstGeom>
          <a:noFill/>
          <a:ln w="0">
            <a:noFill/>
          </a:ln>
        </p:spPr>
        <p:txBody>
          <a:bodyPr lIns="0" tIns="0" rIns="0" bIns="0" anchor="t">
            <a:noAutofit/>
          </a:bodyPr>
          <a:lstStyle/>
          <a:p>
            <a:pPr algn="l">
              <a:defRPr sz="1200" b="1">
                <a:solidFill>
                  <a:srgbClr val="117D79"/>
                </a:solidFill>
                <a:latin typeface="Inter"/>
                <a:ea typeface="Inter"/>
                <a:cs typeface="Inter"/>
              </a:defRPr>
            </a:pPr>
            <a:r>
              <a:rPr sz="1200" b="1">
                <a:solidFill>
                  <a:srgbClr val="117D79"/>
                </a:solidFill>
                <a:latin typeface="Inter"/>
                <a:ea typeface="Inter"/>
                <a:cs typeface="Inter"/>
              </a:rPr>
              <a:t>04</a:t>
            </a:r>
          </a:p>
        </p:txBody>
      </p:sp>
      <p:sp>
        <p:nvSpPr>
          <p:cNvPr id="6" name="Rectangle 5">
            <a:extLst>
              <a:ext uri="{FF2B5EF4-FFF2-40B4-BE49-F238E27FC236}">
                <a16:creationId xmlns:a16="http://schemas.microsoft.com/office/drawing/2014/main" id="{D7A034DB-B3C9-4668-8503-BB6FC697C55A}"/>
              </a:ext>
            </a:extLst>
          </p:cNvPr>
          <p:cNvSpPr>
            <a:spLocks noGrp="1"/>
          </p:cNvSpPr>
          <p:nvPr/>
        </p:nvSpPr>
        <p:spPr>
          <a:xfrm>
            <a:off x="762000" y="2047875"/>
            <a:ext cx="4857750" cy="3724275"/>
          </a:xfrm>
          <a:prstGeom prst="rect">
            <a:avLst/>
          </a:prstGeom>
          <a:solidFill>
            <a:srgbClr val="F4F7F8"/>
          </a:solidFill>
          <a:ln w="0">
            <a:noFill/>
          </a:ln>
        </p:spPr>
        <p:txBody>
          <a:bodyPr/>
          <a:lstStyle/>
          <a:p>
            <a:endParaRPr lang="en-IN"/>
          </a:p>
        </p:txBody>
      </p:sp>
      <p:sp>
        <p:nvSpPr>
          <p:cNvPr id="7" name="Rectangle 6">
            <a:extLst>
              <a:ext uri="{FF2B5EF4-FFF2-40B4-BE49-F238E27FC236}">
                <a16:creationId xmlns:a16="http://schemas.microsoft.com/office/drawing/2014/main" id="{0F50E5E3-725B-4B59-BEBE-4CD831E77A4B}"/>
              </a:ext>
            </a:extLst>
          </p:cNvPr>
          <p:cNvSpPr>
            <a:spLocks noGrp="1"/>
          </p:cNvSpPr>
          <p:nvPr/>
        </p:nvSpPr>
        <p:spPr>
          <a:xfrm>
            <a:off x="6038850" y="2047875"/>
            <a:ext cx="5391150" cy="3724275"/>
          </a:xfrm>
          <a:prstGeom prst="rect">
            <a:avLst/>
          </a:prstGeom>
          <a:solidFill>
            <a:srgbClr val="F4F7F8"/>
          </a:solidFill>
          <a:ln w="0">
            <a:noFill/>
          </a:ln>
        </p:spPr>
        <p:txBody>
          <a:bodyPr/>
          <a:lstStyle/>
          <a:p>
            <a:endParaRPr lang="en-IN"/>
          </a:p>
        </p:txBody>
      </p:sp>
      <p:sp>
        <p:nvSpPr>
          <p:cNvPr id="8" name="Rectangle 7">
            <a:extLst>
              <a:ext uri="{FF2B5EF4-FFF2-40B4-BE49-F238E27FC236}">
                <a16:creationId xmlns:a16="http://schemas.microsoft.com/office/drawing/2014/main" id="{5E0A4DB7-A6EF-4B0E-96A7-165C9C23ED52}"/>
              </a:ext>
            </a:extLst>
          </p:cNvPr>
          <p:cNvSpPr>
            <a:spLocks noGrp="1"/>
          </p:cNvSpPr>
          <p:nvPr/>
        </p:nvSpPr>
        <p:spPr>
          <a:xfrm>
            <a:off x="1000125" y="2362200"/>
            <a:ext cx="4381500" cy="733425"/>
          </a:xfrm>
          <a:prstGeom prst="rect">
            <a:avLst/>
          </a:prstGeom>
          <a:noFill/>
          <a:ln w="0">
            <a:noFill/>
          </a:ln>
        </p:spPr>
        <p:txBody>
          <a:bodyPr lIns="0" tIns="0" rIns="0" bIns="0" anchor="t">
            <a:noAutofit/>
          </a:bodyPr>
          <a:lstStyle/>
          <a:p>
            <a:pPr algn="l">
              <a:defRPr sz="2175" b="1">
                <a:solidFill>
                  <a:srgbClr val="117D79"/>
                </a:solidFill>
                <a:latin typeface="Inter"/>
                <a:ea typeface="Inter"/>
                <a:cs typeface="Inter"/>
              </a:defRPr>
            </a:pPr>
            <a:r>
              <a:rPr sz="2175" b="1" dirty="0">
                <a:solidFill>
                  <a:srgbClr val="117D79"/>
                </a:solidFill>
                <a:latin typeface="Inter"/>
                <a:ea typeface="Inter"/>
                <a:cs typeface="Inter"/>
              </a:rPr>
              <a:t>From circulars to search indexes</a:t>
            </a:r>
          </a:p>
        </p:txBody>
      </p:sp>
      <p:sp>
        <p:nvSpPr>
          <p:cNvPr id="9" name="Rectangle 8">
            <a:extLst>
              <a:ext uri="{FF2B5EF4-FFF2-40B4-BE49-F238E27FC236}">
                <a16:creationId xmlns:a16="http://schemas.microsoft.com/office/drawing/2014/main" id="{5CC67E8D-5CB6-490C-89A5-4CE38E9426C7}"/>
              </a:ext>
            </a:extLst>
          </p:cNvPr>
          <p:cNvSpPr>
            <a:spLocks noGrp="1"/>
          </p:cNvSpPr>
          <p:nvPr/>
        </p:nvSpPr>
        <p:spPr>
          <a:xfrm>
            <a:off x="995362" y="3305175"/>
            <a:ext cx="4391025" cy="1819275"/>
          </a:xfrm>
          <a:prstGeom prst="rect">
            <a:avLst/>
          </a:prstGeom>
          <a:noFill/>
          <a:ln w="0">
            <a:noFill/>
          </a:ln>
        </p:spPr>
        <p:txBody>
          <a:bodyPr lIns="0" tIns="0" rIns="0" bIns="0" anchor="t">
            <a:noAutofit/>
          </a:bodyPr>
          <a:lstStyle/>
          <a:p>
            <a:pPr algn="l">
              <a:defRPr sz="1650" b="0">
                <a:solidFill>
                  <a:srgbClr val="596C84"/>
                </a:solidFill>
                <a:latin typeface="Inter"/>
                <a:ea typeface="Inter"/>
                <a:cs typeface="Inter"/>
              </a:defRPr>
            </a:pPr>
            <a:r>
              <a:rPr sz="1650" b="0" dirty="0">
                <a:solidFill>
                  <a:srgbClr val="596C84"/>
                </a:solidFill>
                <a:latin typeface="Inter"/>
                <a:ea typeface="Inter"/>
                <a:cs typeface="Inter"/>
              </a:rPr>
              <a:t>1  Split by page, heading and clause</a:t>
            </a:r>
          </a:p>
          <a:p>
            <a:pPr algn="l">
              <a:defRPr sz="1650" b="0">
                <a:solidFill>
                  <a:srgbClr val="596C84"/>
                </a:solidFill>
                <a:latin typeface="Inter"/>
                <a:ea typeface="Inter"/>
                <a:cs typeface="Inter"/>
              </a:defRPr>
            </a:pPr>
            <a:r>
              <a:rPr sz="1650" b="0" dirty="0">
                <a:solidFill>
                  <a:srgbClr val="596C84"/>
                </a:solidFill>
                <a:latin typeface="Inter"/>
                <a:ea typeface="Inter"/>
                <a:cs typeface="Inter"/>
              </a:rPr>
              <a:t>2  Long blocks: ≤220 words; 35 overlap</a:t>
            </a:r>
          </a:p>
          <a:p>
            <a:pPr algn="l">
              <a:defRPr sz="1650" b="0">
                <a:solidFill>
                  <a:srgbClr val="596C84"/>
                </a:solidFill>
                <a:latin typeface="Inter"/>
                <a:ea typeface="Inter"/>
                <a:cs typeface="Inter"/>
              </a:defRPr>
            </a:pPr>
            <a:r>
              <a:rPr sz="1650" b="0" dirty="0">
                <a:solidFill>
                  <a:srgbClr val="596C84"/>
                </a:solidFill>
                <a:latin typeface="Inter"/>
                <a:ea typeface="Inter"/>
                <a:cs typeface="Inter"/>
              </a:rPr>
              <a:t>3  Keep document ID, page and links</a:t>
            </a:r>
          </a:p>
          <a:p>
            <a:pPr algn="l">
              <a:defRPr sz="1650" b="0">
                <a:solidFill>
                  <a:srgbClr val="596C84"/>
                </a:solidFill>
                <a:latin typeface="Inter"/>
                <a:ea typeface="Inter"/>
                <a:cs typeface="Inter"/>
              </a:defRPr>
            </a:pPr>
            <a:r>
              <a:rPr sz="1650" b="0" dirty="0">
                <a:solidFill>
                  <a:srgbClr val="596C84"/>
                </a:solidFill>
                <a:latin typeface="Inter"/>
                <a:ea typeface="Inter"/>
                <a:cs typeface="Inter"/>
              </a:rPr>
              <a:t>4  Index text in BM25; vectors in Chroma</a:t>
            </a:r>
          </a:p>
        </p:txBody>
      </p:sp>
      <p:sp>
        <p:nvSpPr>
          <p:cNvPr id="11" name="Rectangle 10">
            <a:extLst>
              <a:ext uri="{FF2B5EF4-FFF2-40B4-BE49-F238E27FC236}">
                <a16:creationId xmlns:a16="http://schemas.microsoft.com/office/drawing/2014/main" id="{441226D9-F7EE-4A88-AD98-C3AEC2D32F49}"/>
              </a:ext>
            </a:extLst>
          </p:cNvPr>
          <p:cNvSpPr>
            <a:spLocks noGrp="1"/>
          </p:cNvSpPr>
          <p:nvPr/>
        </p:nvSpPr>
        <p:spPr>
          <a:xfrm>
            <a:off x="6296025" y="2343150"/>
            <a:ext cx="4857750" cy="723900"/>
          </a:xfrm>
          <a:prstGeom prst="rect">
            <a:avLst/>
          </a:prstGeom>
          <a:noFill/>
          <a:ln w="0">
            <a:noFill/>
          </a:ln>
        </p:spPr>
        <p:txBody>
          <a:bodyPr lIns="0" tIns="0" rIns="0" bIns="0" anchor="t">
            <a:noAutofit/>
          </a:bodyPr>
          <a:lstStyle/>
          <a:p>
            <a:pPr algn="l">
              <a:defRPr sz="2250" b="1">
                <a:solidFill>
                  <a:srgbClr val="101A2E"/>
                </a:solidFill>
                <a:latin typeface="Inter"/>
                <a:ea typeface="Inter"/>
                <a:cs typeface="Inter"/>
              </a:defRPr>
            </a:pPr>
            <a:r>
              <a:rPr sz="2250" b="1" dirty="0">
                <a:solidFill>
                  <a:srgbClr val="101A2E"/>
                </a:solidFill>
                <a:latin typeface="Inter"/>
                <a:ea typeface="Inter"/>
                <a:cs typeface="Inter"/>
              </a:rPr>
              <a:t>Local model and storage stack</a:t>
            </a:r>
          </a:p>
        </p:txBody>
      </p:sp>
      <p:sp>
        <p:nvSpPr>
          <p:cNvPr id="12" name="Rectangle 11">
            <a:extLst>
              <a:ext uri="{FF2B5EF4-FFF2-40B4-BE49-F238E27FC236}">
                <a16:creationId xmlns:a16="http://schemas.microsoft.com/office/drawing/2014/main" id="{2604A778-D8C9-4646-817B-87F5B1F1A2E1}"/>
              </a:ext>
            </a:extLst>
          </p:cNvPr>
          <p:cNvSpPr>
            <a:spLocks noGrp="1"/>
          </p:cNvSpPr>
          <p:nvPr/>
        </p:nvSpPr>
        <p:spPr>
          <a:xfrm>
            <a:off x="6296025" y="3305175"/>
            <a:ext cx="4876800" cy="1952625"/>
          </a:xfrm>
          <a:prstGeom prst="rect">
            <a:avLst/>
          </a:prstGeom>
          <a:noFill/>
          <a:ln w="0">
            <a:noFill/>
          </a:ln>
        </p:spPr>
        <p:txBody>
          <a:bodyPr lIns="0" tIns="0" rIns="0" bIns="0" anchor="t">
            <a:noAutofit/>
          </a:bodyPr>
          <a:lstStyle/>
          <a:p>
            <a:pPr algn="l">
              <a:defRPr sz="1725" b="0">
                <a:solidFill>
                  <a:srgbClr val="596C84"/>
                </a:solidFill>
                <a:latin typeface="Inter"/>
                <a:ea typeface="Inter"/>
                <a:cs typeface="Inter"/>
              </a:defRPr>
            </a:pPr>
            <a:r>
              <a:rPr sz="1725" b="0">
                <a:solidFill>
                  <a:srgbClr val="596C84"/>
                </a:solidFill>
                <a:latin typeface="Inter"/>
                <a:ea typeface="Inter"/>
                <a:cs typeface="Inter"/>
              </a:rPr>
              <a:t>Qwen3.5 9B  /  answer generation</a:t>
            </a:r>
          </a:p>
          <a:p>
            <a:pPr algn="l">
              <a:defRPr sz="1725" b="0">
                <a:solidFill>
                  <a:srgbClr val="596C84"/>
                </a:solidFill>
                <a:latin typeface="Inter"/>
                <a:ea typeface="Inter"/>
                <a:cs typeface="Inter"/>
              </a:defRPr>
            </a:pPr>
            <a:r>
              <a:rPr sz="1725" b="0">
                <a:solidFill>
                  <a:srgbClr val="596C84"/>
                </a:solidFill>
                <a:latin typeface="Inter"/>
                <a:ea typeface="Inter"/>
                <a:cs typeface="Inter"/>
              </a:rPr>
              <a:t>Qwen3 embeddings  /  semantic search</a:t>
            </a:r>
          </a:p>
          <a:p>
            <a:pPr algn="l">
              <a:defRPr sz="1725" b="0">
                <a:solidFill>
                  <a:srgbClr val="596C84"/>
                </a:solidFill>
                <a:latin typeface="Inter"/>
                <a:ea typeface="Inter"/>
                <a:cs typeface="Inter"/>
              </a:defRPr>
            </a:pPr>
            <a:r>
              <a:rPr sz="1725" b="0">
                <a:solidFill>
                  <a:srgbClr val="596C84"/>
                </a:solidFill>
                <a:latin typeface="Inter"/>
                <a:ea typeface="Inter"/>
                <a:cs typeface="Inter"/>
              </a:rPr>
              <a:t>MiniLM  /  candidate reranking</a:t>
            </a:r>
          </a:p>
          <a:p>
            <a:pPr algn="l">
              <a:defRPr sz="1725" b="0">
                <a:solidFill>
                  <a:srgbClr val="596C84"/>
                </a:solidFill>
                <a:latin typeface="Inter"/>
                <a:ea typeface="Inter"/>
                <a:cs typeface="Inter"/>
              </a:defRPr>
            </a:pPr>
            <a:r>
              <a:rPr sz="1725" b="0">
                <a:solidFill>
                  <a:srgbClr val="596C84"/>
                </a:solidFill>
                <a:latin typeface="Inter"/>
                <a:ea typeface="Inter"/>
                <a:cs typeface="Inter"/>
              </a:rPr>
              <a:t>Chroma + SQLite  /  vectors + metadata</a:t>
            </a:r>
          </a:p>
        </p:txBody>
      </p:sp>
    </p:spTree>
    <p:extLst>
      <p:ext uri="{BB962C8B-B14F-4D97-AF65-F5344CB8AC3E}">
        <p14:creationId xmlns:p14="http://schemas.microsoft.com/office/powerpoint/2010/main" val="8194761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C6407809-D07D-48A2-99C7-C8481542159F}"/>
              </a:ext>
            </a:extLst>
          </p:cNvPr>
          <p:cNvSpPr>
            <a:spLocks noGrp="1"/>
          </p:cNvSpPr>
          <p:nvPr/>
        </p:nvSpPr>
        <p:spPr>
          <a:xfrm>
            <a:off x="0" y="0"/>
            <a:ext cx="12192000" cy="57150"/>
          </a:xfrm>
          <a:prstGeom prst="rect">
            <a:avLst/>
          </a:prstGeom>
          <a:solidFill>
            <a:srgbClr val="117D79"/>
          </a:solidFill>
          <a:ln w="0">
            <a:noFill/>
          </a:ln>
        </p:spPr>
        <p:txBody>
          <a:bodyPr/>
          <a:lstStyle/>
          <a:p>
            <a:endParaRPr lang="en-IN"/>
          </a:p>
        </p:txBody>
      </p:sp>
      <p:sp>
        <p:nvSpPr>
          <p:cNvPr id="2" name="Rectangle 1">
            <a:extLst>
              <a:ext uri="{FF2B5EF4-FFF2-40B4-BE49-F238E27FC236}">
                <a16:creationId xmlns:a16="http://schemas.microsoft.com/office/drawing/2014/main" id="{A5F01697-FD34-43BF-A142-576DFAD8FBFA}"/>
              </a:ext>
            </a:extLst>
          </p:cNvPr>
          <p:cNvSpPr>
            <a:spLocks noGrp="1"/>
          </p:cNvSpPr>
          <p:nvPr/>
        </p:nvSpPr>
        <p:spPr>
          <a:xfrm>
            <a:off x="723900" y="533400"/>
            <a:ext cx="10763250" cy="714375"/>
          </a:xfrm>
          <a:prstGeom prst="rect">
            <a:avLst/>
          </a:prstGeom>
          <a:noFill/>
          <a:ln w="0">
            <a:noFill/>
          </a:ln>
        </p:spPr>
        <p:txBody>
          <a:bodyPr lIns="0" tIns="0" rIns="0" bIns="0" anchor="t">
            <a:noAutofit/>
          </a:bodyPr>
          <a:lstStyle/>
          <a:p>
            <a:pPr algn="l">
              <a:defRPr sz="3150" b="0">
                <a:solidFill>
                  <a:srgbClr val="101A2E"/>
                </a:solidFill>
                <a:latin typeface="Georgia"/>
                <a:ea typeface="Georgia"/>
                <a:cs typeface="Georgia"/>
              </a:defRPr>
            </a:pPr>
            <a:r>
              <a:rPr sz="3150" b="0">
                <a:solidFill>
                  <a:srgbClr val="101A2E"/>
                </a:solidFill>
                <a:latin typeface="Georgia"/>
                <a:ea typeface="Georgia"/>
                <a:cs typeface="Georgia"/>
              </a:rPr>
              <a:t>How the System Works</a:t>
            </a:r>
          </a:p>
        </p:txBody>
      </p:sp>
      <p:sp>
        <p:nvSpPr>
          <p:cNvPr id="3" name="Rectangle 2">
            <a:extLst>
              <a:ext uri="{FF2B5EF4-FFF2-40B4-BE49-F238E27FC236}">
                <a16:creationId xmlns:a16="http://schemas.microsoft.com/office/drawing/2014/main" id="{777D0979-8D48-4EDB-9B7A-E786018C703F}"/>
              </a:ext>
            </a:extLst>
          </p:cNvPr>
          <p:cNvSpPr>
            <a:spLocks noGrp="1"/>
          </p:cNvSpPr>
          <p:nvPr/>
        </p:nvSpPr>
        <p:spPr>
          <a:xfrm>
            <a:off x="742950" y="1343025"/>
            <a:ext cx="10620375" cy="381000"/>
          </a:xfrm>
          <a:prstGeom prst="rect">
            <a:avLst/>
          </a:prstGeom>
          <a:noFill/>
          <a:ln w="0">
            <a:noFill/>
          </a:ln>
        </p:spPr>
        <p:txBody>
          <a:bodyPr lIns="0" tIns="0" rIns="0" bIns="0" anchor="t">
            <a:noAutofit/>
          </a:bodyPr>
          <a:lstStyle/>
          <a:p>
            <a:pPr algn="l">
              <a:defRPr sz="1500" b="0">
                <a:solidFill>
                  <a:srgbClr val="596C84"/>
                </a:solidFill>
                <a:latin typeface="Inter"/>
                <a:ea typeface="Inter"/>
                <a:cs typeface="Inter"/>
              </a:defRPr>
            </a:pPr>
            <a:r>
              <a:rPr sz="1500" b="0">
                <a:solidFill>
                  <a:srgbClr val="596C84"/>
                </a:solidFill>
                <a:latin typeface="Inter"/>
                <a:ea typeface="Inter"/>
                <a:cs typeface="Inter"/>
              </a:rPr>
              <a:t>The How  /  Retrieval brings source evidence into the model’s context</a:t>
            </a:r>
          </a:p>
        </p:txBody>
      </p:sp>
      <p:sp>
        <p:nvSpPr>
          <p:cNvPr id="4" name="Rectangle 3">
            <a:extLst>
              <a:ext uri="{FF2B5EF4-FFF2-40B4-BE49-F238E27FC236}">
                <a16:creationId xmlns:a16="http://schemas.microsoft.com/office/drawing/2014/main" id="{D7537E8D-BA97-497B-B8EA-E22DF5EC3E49}"/>
              </a:ext>
            </a:extLst>
          </p:cNvPr>
          <p:cNvSpPr>
            <a:spLocks noGrp="1"/>
          </p:cNvSpPr>
          <p:nvPr/>
        </p:nvSpPr>
        <p:spPr>
          <a:xfrm>
            <a:off x="742950" y="6410325"/>
            <a:ext cx="9620250" cy="209550"/>
          </a:xfrm>
          <a:prstGeom prst="rect">
            <a:avLst/>
          </a:prstGeom>
          <a:noFill/>
          <a:ln w="0">
            <a:noFill/>
          </a:ln>
        </p:spPr>
        <p:txBody>
          <a:bodyPr lIns="0" tIns="0" rIns="0" bIns="0" anchor="t">
            <a:noAutofit/>
          </a:bodyPr>
          <a:lstStyle/>
          <a:p>
            <a:pPr algn="l">
              <a:defRPr sz="1050" b="0">
                <a:solidFill>
                  <a:srgbClr val="596C84"/>
                </a:solidFill>
                <a:latin typeface="Inter"/>
                <a:ea typeface="Inter"/>
                <a:cs typeface="Inter"/>
              </a:defRPr>
            </a:pPr>
            <a:r>
              <a:rPr sz="1050" b="0">
                <a:solidFill>
                  <a:srgbClr val="596C84"/>
                </a:solidFill>
                <a:latin typeface="Inter"/>
                <a:ea typeface="Inter"/>
                <a:cs typeface="Inter"/>
              </a:rPr>
              <a:t>Payments Guidelines Query Expert   /   Midterm capstone</a:t>
            </a:r>
          </a:p>
        </p:txBody>
      </p:sp>
      <p:sp>
        <p:nvSpPr>
          <p:cNvPr id="5" name="Rectangle 4">
            <a:extLst>
              <a:ext uri="{FF2B5EF4-FFF2-40B4-BE49-F238E27FC236}">
                <a16:creationId xmlns:a16="http://schemas.microsoft.com/office/drawing/2014/main" id="{CBB01B04-892B-4AF1-AC3C-1B4C1A538767}"/>
              </a:ext>
            </a:extLst>
          </p:cNvPr>
          <p:cNvSpPr>
            <a:spLocks noGrp="1"/>
          </p:cNvSpPr>
          <p:nvPr/>
        </p:nvSpPr>
        <p:spPr>
          <a:xfrm>
            <a:off x="11049000" y="6410325"/>
            <a:ext cx="476250" cy="238125"/>
          </a:xfrm>
          <a:prstGeom prst="rect">
            <a:avLst/>
          </a:prstGeom>
          <a:noFill/>
          <a:ln w="0">
            <a:noFill/>
          </a:ln>
        </p:spPr>
        <p:txBody>
          <a:bodyPr lIns="0" tIns="0" rIns="0" bIns="0" anchor="t">
            <a:noAutofit/>
          </a:bodyPr>
          <a:lstStyle/>
          <a:p>
            <a:pPr algn="l">
              <a:defRPr sz="1200" b="1">
                <a:solidFill>
                  <a:srgbClr val="117D79"/>
                </a:solidFill>
                <a:latin typeface="Inter"/>
                <a:ea typeface="Inter"/>
                <a:cs typeface="Inter"/>
              </a:defRPr>
            </a:pPr>
            <a:r>
              <a:rPr sz="1200" b="1">
                <a:solidFill>
                  <a:srgbClr val="117D79"/>
                </a:solidFill>
                <a:latin typeface="Inter"/>
                <a:ea typeface="Inter"/>
                <a:cs typeface="Inter"/>
              </a:rPr>
              <a:t>05</a:t>
            </a:r>
          </a:p>
        </p:txBody>
      </p:sp>
      <p:sp>
        <p:nvSpPr>
          <p:cNvPr id="6" name="Rectangle 5">
            <a:extLst>
              <a:ext uri="{FF2B5EF4-FFF2-40B4-BE49-F238E27FC236}">
                <a16:creationId xmlns:a16="http://schemas.microsoft.com/office/drawing/2014/main" id="{26FC1EB8-7FD3-4078-A164-83C794C83507}"/>
              </a:ext>
            </a:extLst>
          </p:cNvPr>
          <p:cNvSpPr>
            <a:spLocks noGrp="1"/>
          </p:cNvSpPr>
          <p:nvPr/>
        </p:nvSpPr>
        <p:spPr>
          <a:xfrm>
            <a:off x="762000" y="1933575"/>
            <a:ext cx="10668000" cy="342900"/>
          </a:xfrm>
          <a:prstGeom prst="rect">
            <a:avLst/>
          </a:prstGeom>
          <a:noFill/>
          <a:ln w="0">
            <a:noFill/>
          </a:ln>
        </p:spPr>
        <p:txBody>
          <a:bodyPr lIns="0" tIns="0" rIns="0" bIns="0" anchor="t">
            <a:noAutofit/>
          </a:bodyPr>
          <a:lstStyle/>
          <a:p>
            <a:pPr algn="l">
              <a:defRPr sz="1800" b="1">
                <a:solidFill>
                  <a:srgbClr val="117D79"/>
                </a:solidFill>
                <a:latin typeface="Inter"/>
                <a:ea typeface="Inter"/>
                <a:cs typeface="Inter"/>
              </a:defRPr>
            </a:pPr>
            <a:r>
              <a:rPr sz="1800" b="1">
                <a:solidFill>
                  <a:srgbClr val="117D79"/>
                </a:solidFill>
                <a:latin typeface="Inter"/>
                <a:ea typeface="Inter"/>
                <a:cs typeface="Inter"/>
              </a:rPr>
              <a:t>Prepare</a:t>
            </a:r>
          </a:p>
        </p:txBody>
      </p:sp>
      <p:sp>
        <p:nvSpPr>
          <p:cNvPr id="7" name="Rectangle 6">
            <a:extLst>
              <a:ext uri="{FF2B5EF4-FFF2-40B4-BE49-F238E27FC236}">
                <a16:creationId xmlns:a16="http://schemas.microsoft.com/office/drawing/2014/main" id="{399FA593-622E-464F-B16F-9803E8AE4191}"/>
              </a:ext>
            </a:extLst>
          </p:cNvPr>
          <p:cNvSpPr>
            <a:spLocks noGrp="1"/>
          </p:cNvSpPr>
          <p:nvPr/>
        </p:nvSpPr>
        <p:spPr>
          <a:xfrm>
            <a:off x="762000" y="2381250"/>
            <a:ext cx="1809750" cy="809625"/>
          </a:xfrm>
          <a:prstGeom prst="rect">
            <a:avLst/>
          </a:prstGeom>
          <a:solidFill>
            <a:srgbClr val="F4F7F8"/>
          </a:solidFill>
          <a:ln w="9525">
            <a:solidFill>
              <a:srgbClr val="117D79"/>
            </a:solidFill>
          </a:ln>
        </p:spPr>
        <p:txBody>
          <a:bodyPr/>
          <a:lstStyle/>
          <a:p>
            <a:endParaRPr lang="en-IN"/>
          </a:p>
        </p:txBody>
      </p:sp>
      <p:sp>
        <p:nvSpPr>
          <p:cNvPr id="8" name="Rectangle 7">
            <a:extLst>
              <a:ext uri="{FF2B5EF4-FFF2-40B4-BE49-F238E27FC236}">
                <a16:creationId xmlns:a16="http://schemas.microsoft.com/office/drawing/2014/main" id="{81FC11C5-2284-48E7-B000-8CDF643788DB}"/>
              </a:ext>
            </a:extLst>
          </p:cNvPr>
          <p:cNvSpPr>
            <a:spLocks noGrp="1"/>
          </p:cNvSpPr>
          <p:nvPr/>
        </p:nvSpPr>
        <p:spPr>
          <a:xfrm>
            <a:off x="857250" y="2543175"/>
            <a:ext cx="1619250" cy="609600"/>
          </a:xfrm>
          <a:prstGeom prst="rect">
            <a:avLst/>
          </a:prstGeom>
          <a:noFill/>
          <a:ln w="0">
            <a:noFill/>
          </a:ln>
        </p:spPr>
        <p:txBody>
          <a:bodyPr lIns="0" tIns="0" rIns="0" bIns="0" anchor="t">
            <a:noAutofit/>
          </a:bodyPr>
          <a:lstStyle/>
          <a:p>
            <a:pPr algn="ctr">
              <a:defRPr sz="1575" b="1">
                <a:solidFill>
                  <a:srgbClr val="101A2E"/>
                </a:solidFill>
                <a:latin typeface="Inter"/>
                <a:ea typeface="Inter"/>
                <a:cs typeface="Inter"/>
              </a:defRPr>
            </a:pPr>
            <a:r>
              <a:rPr sz="1575" b="1">
                <a:solidFill>
                  <a:srgbClr val="101A2E"/>
                </a:solidFill>
                <a:latin typeface="Inter"/>
                <a:ea typeface="Inter"/>
                <a:cs typeface="Inter"/>
              </a:rPr>
              <a:t>Source text</a:t>
            </a:r>
          </a:p>
          <a:p>
            <a:pPr algn="ctr">
              <a:defRPr sz="1575" b="1">
                <a:solidFill>
                  <a:srgbClr val="101A2E"/>
                </a:solidFill>
                <a:latin typeface="Inter"/>
                <a:ea typeface="Inter"/>
                <a:cs typeface="Inter"/>
              </a:defRPr>
            </a:pPr>
            <a:r>
              <a:rPr sz="1575" b="1">
                <a:solidFill>
                  <a:srgbClr val="101A2E"/>
                </a:solidFill>
                <a:latin typeface="Inter"/>
                <a:ea typeface="Inter"/>
                <a:cs typeface="Inter"/>
              </a:rPr>
              <a:t>and inventory</a:t>
            </a:r>
          </a:p>
        </p:txBody>
      </p:sp>
      <p:sp>
        <p:nvSpPr>
          <p:cNvPr id="9" name="Arrow: Right 8">
            <a:extLst>
              <a:ext uri="{FF2B5EF4-FFF2-40B4-BE49-F238E27FC236}">
                <a16:creationId xmlns:a16="http://schemas.microsoft.com/office/drawing/2014/main" id="{B6A249D6-31B6-47EA-A151-C907D8B1755F}"/>
              </a:ext>
            </a:extLst>
          </p:cNvPr>
          <p:cNvSpPr>
            <a:spLocks noGrp="1"/>
          </p:cNvSpPr>
          <p:nvPr/>
        </p:nvSpPr>
        <p:spPr>
          <a:xfrm>
            <a:off x="2638425" y="2676525"/>
            <a:ext cx="209550" cy="190500"/>
          </a:xfrm>
          <a:prstGeom prst="rightArrow">
            <a:avLst/>
          </a:prstGeom>
          <a:solidFill>
            <a:srgbClr val="117D79"/>
          </a:solidFill>
          <a:ln w="0">
            <a:noFill/>
          </a:ln>
        </p:spPr>
        <p:txBody>
          <a:bodyPr/>
          <a:lstStyle/>
          <a:p>
            <a:endParaRPr lang="en-IN"/>
          </a:p>
        </p:txBody>
      </p:sp>
      <p:sp>
        <p:nvSpPr>
          <p:cNvPr id="10" name="Rectangle 9">
            <a:extLst>
              <a:ext uri="{FF2B5EF4-FFF2-40B4-BE49-F238E27FC236}">
                <a16:creationId xmlns:a16="http://schemas.microsoft.com/office/drawing/2014/main" id="{FD91381B-A6F4-4D85-BD6A-1E47B4482AB2}"/>
              </a:ext>
            </a:extLst>
          </p:cNvPr>
          <p:cNvSpPr>
            <a:spLocks noGrp="1"/>
          </p:cNvSpPr>
          <p:nvPr/>
        </p:nvSpPr>
        <p:spPr>
          <a:xfrm>
            <a:off x="2895600" y="2381250"/>
            <a:ext cx="1809750" cy="809625"/>
          </a:xfrm>
          <a:prstGeom prst="rect">
            <a:avLst/>
          </a:prstGeom>
          <a:solidFill>
            <a:srgbClr val="F4F7F8"/>
          </a:solidFill>
          <a:ln w="9525">
            <a:solidFill>
              <a:srgbClr val="117D79"/>
            </a:solidFill>
          </a:ln>
        </p:spPr>
        <p:txBody>
          <a:bodyPr/>
          <a:lstStyle/>
          <a:p>
            <a:endParaRPr lang="en-IN"/>
          </a:p>
        </p:txBody>
      </p:sp>
      <p:sp>
        <p:nvSpPr>
          <p:cNvPr id="11" name="Rectangle 10">
            <a:extLst>
              <a:ext uri="{FF2B5EF4-FFF2-40B4-BE49-F238E27FC236}">
                <a16:creationId xmlns:a16="http://schemas.microsoft.com/office/drawing/2014/main" id="{2E015EBB-F30A-4778-82F7-DAADFF2CBF36}"/>
              </a:ext>
            </a:extLst>
          </p:cNvPr>
          <p:cNvSpPr>
            <a:spLocks noGrp="1"/>
          </p:cNvSpPr>
          <p:nvPr/>
        </p:nvSpPr>
        <p:spPr>
          <a:xfrm>
            <a:off x="2990850" y="2543175"/>
            <a:ext cx="1619250" cy="609600"/>
          </a:xfrm>
          <a:prstGeom prst="rect">
            <a:avLst/>
          </a:prstGeom>
          <a:noFill/>
          <a:ln w="0">
            <a:noFill/>
          </a:ln>
        </p:spPr>
        <p:txBody>
          <a:bodyPr lIns="0" tIns="0" rIns="0" bIns="0" anchor="t">
            <a:noAutofit/>
          </a:bodyPr>
          <a:lstStyle/>
          <a:p>
            <a:pPr algn="ctr">
              <a:defRPr sz="1575" b="1">
                <a:solidFill>
                  <a:srgbClr val="101A2E"/>
                </a:solidFill>
                <a:latin typeface="Inter"/>
                <a:ea typeface="Inter"/>
                <a:cs typeface="Inter"/>
              </a:defRPr>
            </a:pPr>
            <a:r>
              <a:rPr sz="1575" b="1">
                <a:solidFill>
                  <a:srgbClr val="101A2E"/>
                </a:solidFill>
                <a:latin typeface="Inter"/>
                <a:ea typeface="Inter"/>
                <a:cs typeface="Inter"/>
              </a:rPr>
              <a:t>Preserve document</a:t>
            </a:r>
          </a:p>
          <a:p>
            <a:pPr algn="ctr">
              <a:defRPr sz="1575" b="1">
                <a:solidFill>
                  <a:srgbClr val="101A2E"/>
                </a:solidFill>
                <a:latin typeface="Inter"/>
                <a:ea typeface="Inter"/>
                <a:cs typeface="Inter"/>
              </a:defRPr>
            </a:pPr>
            <a:r>
              <a:rPr sz="1575" b="1">
                <a:solidFill>
                  <a:srgbClr val="101A2E"/>
                </a:solidFill>
                <a:latin typeface="Inter"/>
                <a:ea typeface="Inter"/>
                <a:cs typeface="Inter"/>
              </a:rPr>
              <a:t>and page identity</a:t>
            </a:r>
          </a:p>
        </p:txBody>
      </p:sp>
      <p:sp>
        <p:nvSpPr>
          <p:cNvPr id="12" name="Arrow: Right 11">
            <a:extLst>
              <a:ext uri="{FF2B5EF4-FFF2-40B4-BE49-F238E27FC236}">
                <a16:creationId xmlns:a16="http://schemas.microsoft.com/office/drawing/2014/main" id="{E33B75B6-3DFE-450D-A493-66DAC4817D69}"/>
              </a:ext>
            </a:extLst>
          </p:cNvPr>
          <p:cNvSpPr>
            <a:spLocks noGrp="1"/>
          </p:cNvSpPr>
          <p:nvPr/>
        </p:nvSpPr>
        <p:spPr>
          <a:xfrm>
            <a:off x="4772025" y="2676525"/>
            <a:ext cx="209550" cy="190500"/>
          </a:xfrm>
          <a:prstGeom prst="rightArrow">
            <a:avLst/>
          </a:prstGeom>
          <a:solidFill>
            <a:srgbClr val="117D79"/>
          </a:solidFill>
          <a:ln w="0">
            <a:noFill/>
          </a:ln>
        </p:spPr>
        <p:txBody>
          <a:bodyPr/>
          <a:lstStyle/>
          <a:p>
            <a:endParaRPr lang="en-IN"/>
          </a:p>
        </p:txBody>
      </p:sp>
      <p:sp>
        <p:nvSpPr>
          <p:cNvPr id="13" name="Rectangle 12">
            <a:extLst>
              <a:ext uri="{FF2B5EF4-FFF2-40B4-BE49-F238E27FC236}">
                <a16:creationId xmlns:a16="http://schemas.microsoft.com/office/drawing/2014/main" id="{3795CCE7-34A1-45BE-9D92-9280B6BA3EAA}"/>
              </a:ext>
            </a:extLst>
          </p:cNvPr>
          <p:cNvSpPr>
            <a:spLocks noGrp="1"/>
          </p:cNvSpPr>
          <p:nvPr/>
        </p:nvSpPr>
        <p:spPr>
          <a:xfrm>
            <a:off x="5029200" y="2381250"/>
            <a:ext cx="1809750" cy="809625"/>
          </a:xfrm>
          <a:prstGeom prst="rect">
            <a:avLst/>
          </a:prstGeom>
          <a:solidFill>
            <a:srgbClr val="F4F7F8"/>
          </a:solidFill>
          <a:ln w="9525">
            <a:solidFill>
              <a:srgbClr val="117D79"/>
            </a:solidFill>
          </a:ln>
        </p:spPr>
        <p:txBody>
          <a:bodyPr/>
          <a:lstStyle/>
          <a:p>
            <a:endParaRPr lang="en-IN"/>
          </a:p>
        </p:txBody>
      </p:sp>
      <p:sp>
        <p:nvSpPr>
          <p:cNvPr id="14" name="Rectangle 13">
            <a:extLst>
              <a:ext uri="{FF2B5EF4-FFF2-40B4-BE49-F238E27FC236}">
                <a16:creationId xmlns:a16="http://schemas.microsoft.com/office/drawing/2014/main" id="{D4D1AB00-8D63-4C85-9B9E-487C5CEA5A8F}"/>
              </a:ext>
            </a:extLst>
          </p:cNvPr>
          <p:cNvSpPr>
            <a:spLocks noGrp="1"/>
          </p:cNvSpPr>
          <p:nvPr/>
        </p:nvSpPr>
        <p:spPr>
          <a:xfrm>
            <a:off x="5124450" y="2543175"/>
            <a:ext cx="1619250" cy="609600"/>
          </a:xfrm>
          <a:prstGeom prst="rect">
            <a:avLst/>
          </a:prstGeom>
          <a:noFill/>
          <a:ln w="0">
            <a:noFill/>
          </a:ln>
        </p:spPr>
        <p:txBody>
          <a:bodyPr lIns="0" tIns="0" rIns="0" bIns="0" anchor="t">
            <a:noAutofit/>
          </a:bodyPr>
          <a:lstStyle/>
          <a:p>
            <a:pPr algn="ctr">
              <a:defRPr sz="1575" b="1">
                <a:solidFill>
                  <a:srgbClr val="101A2E"/>
                </a:solidFill>
                <a:latin typeface="Inter"/>
                <a:ea typeface="Inter"/>
                <a:cs typeface="Inter"/>
              </a:defRPr>
            </a:pPr>
            <a:r>
              <a:rPr sz="1575" b="1">
                <a:solidFill>
                  <a:srgbClr val="101A2E"/>
                </a:solidFill>
                <a:latin typeface="Inter"/>
                <a:ea typeface="Inter"/>
                <a:cs typeface="Inter"/>
              </a:rPr>
              <a:t>Split into</a:t>
            </a:r>
          </a:p>
          <a:p>
            <a:pPr algn="ctr">
              <a:defRPr sz="1575" b="1">
                <a:solidFill>
                  <a:srgbClr val="101A2E"/>
                </a:solidFill>
                <a:latin typeface="Inter"/>
                <a:ea typeface="Inter"/>
                <a:cs typeface="Inter"/>
              </a:defRPr>
            </a:pPr>
            <a:r>
              <a:rPr sz="1575" b="1">
                <a:solidFill>
                  <a:srgbClr val="101A2E"/>
                </a:solidFill>
                <a:latin typeface="Inter"/>
                <a:ea typeface="Inter"/>
                <a:cs typeface="Inter"/>
              </a:rPr>
              <a:t>focused chunks</a:t>
            </a:r>
          </a:p>
        </p:txBody>
      </p:sp>
      <p:sp>
        <p:nvSpPr>
          <p:cNvPr id="15" name="Arrow: Right 14">
            <a:extLst>
              <a:ext uri="{FF2B5EF4-FFF2-40B4-BE49-F238E27FC236}">
                <a16:creationId xmlns:a16="http://schemas.microsoft.com/office/drawing/2014/main" id="{03370692-93B8-4A01-B99F-46EBC05835AE}"/>
              </a:ext>
            </a:extLst>
          </p:cNvPr>
          <p:cNvSpPr>
            <a:spLocks noGrp="1"/>
          </p:cNvSpPr>
          <p:nvPr/>
        </p:nvSpPr>
        <p:spPr>
          <a:xfrm>
            <a:off x="6905625" y="2676525"/>
            <a:ext cx="209550" cy="190500"/>
          </a:xfrm>
          <a:prstGeom prst="rightArrow">
            <a:avLst/>
          </a:prstGeom>
          <a:solidFill>
            <a:srgbClr val="117D79"/>
          </a:solidFill>
          <a:ln w="0">
            <a:noFill/>
          </a:ln>
        </p:spPr>
        <p:txBody>
          <a:bodyPr/>
          <a:lstStyle/>
          <a:p>
            <a:endParaRPr lang="en-IN"/>
          </a:p>
        </p:txBody>
      </p:sp>
      <p:sp>
        <p:nvSpPr>
          <p:cNvPr id="16" name="Rectangle 15">
            <a:extLst>
              <a:ext uri="{FF2B5EF4-FFF2-40B4-BE49-F238E27FC236}">
                <a16:creationId xmlns:a16="http://schemas.microsoft.com/office/drawing/2014/main" id="{049EE95D-5C1C-4DB6-A9C0-E8EA44C59CBC}"/>
              </a:ext>
            </a:extLst>
          </p:cNvPr>
          <p:cNvSpPr>
            <a:spLocks noGrp="1"/>
          </p:cNvSpPr>
          <p:nvPr/>
        </p:nvSpPr>
        <p:spPr>
          <a:xfrm>
            <a:off x="7162800" y="2381250"/>
            <a:ext cx="1809750" cy="809625"/>
          </a:xfrm>
          <a:prstGeom prst="rect">
            <a:avLst/>
          </a:prstGeom>
          <a:solidFill>
            <a:srgbClr val="F4F7F8"/>
          </a:solidFill>
          <a:ln w="9525">
            <a:solidFill>
              <a:srgbClr val="117D79"/>
            </a:solidFill>
          </a:ln>
        </p:spPr>
        <p:txBody>
          <a:bodyPr/>
          <a:lstStyle/>
          <a:p>
            <a:endParaRPr lang="en-IN"/>
          </a:p>
        </p:txBody>
      </p:sp>
      <p:sp>
        <p:nvSpPr>
          <p:cNvPr id="17" name="Rectangle 16">
            <a:extLst>
              <a:ext uri="{FF2B5EF4-FFF2-40B4-BE49-F238E27FC236}">
                <a16:creationId xmlns:a16="http://schemas.microsoft.com/office/drawing/2014/main" id="{FFF9D27D-F866-45BB-A280-F761BA422C9C}"/>
              </a:ext>
            </a:extLst>
          </p:cNvPr>
          <p:cNvSpPr>
            <a:spLocks noGrp="1"/>
          </p:cNvSpPr>
          <p:nvPr/>
        </p:nvSpPr>
        <p:spPr>
          <a:xfrm>
            <a:off x="7258050" y="2543175"/>
            <a:ext cx="1619250" cy="609600"/>
          </a:xfrm>
          <a:prstGeom prst="rect">
            <a:avLst/>
          </a:prstGeom>
          <a:noFill/>
          <a:ln w="0">
            <a:noFill/>
          </a:ln>
        </p:spPr>
        <p:txBody>
          <a:bodyPr lIns="0" tIns="0" rIns="0" bIns="0" anchor="t">
            <a:noAutofit/>
          </a:bodyPr>
          <a:lstStyle/>
          <a:p>
            <a:pPr algn="ctr">
              <a:defRPr sz="1575" b="1">
                <a:solidFill>
                  <a:srgbClr val="101A2E"/>
                </a:solidFill>
                <a:latin typeface="Inter"/>
                <a:ea typeface="Inter"/>
                <a:cs typeface="Inter"/>
              </a:defRPr>
            </a:pPr>
            <a:r>
              <a:rPr sz="1575" b="1">
                <a:solidFill>
                  <a:srgbClr val="101A2E"/>
                </a:solidFill>
                <a:latin typeface="Inter"/>
                <a:ea typeface="Inter"/>
                <a:cs typeface="Inter"/>
              </a:rPr>
              <a:t>Build keyword</a:t>
            </a:r>
          </a:p>
          <a:p>
            <a:pPr algn="ctr">
              <a:defRPr sz="1575" b="1">
                <a:solidFill>
                  <a:srgbClr val="101A2E"/>
                </a:solidFill>
                <a:latin typeface="Inter"/>
                <a:ea typeface="Inter"/>
                <a:cs typeface="Inter"/>
              </a:defRPr>
            </a:pPr>
            <a:r>
              <a:rPr sz="1575" b="1">
                <a:solidFill>
                  <a:srgbClr val="101A2E"/>
                </a:solidFill>
                <a:latin typeface="Inter"/>
                <a:ea typeface="Inter"/>
                <a:cs typeface="Inter"/>
              </a:rPr>
              <a:t>and vector indexes</a:t>
            </a:r>
          </a:p>
        </p:txBody>
      </p:sp>
      <p:sp>
        <p:nvSpPr>
          <p:cNvPr id="18" name="Arrow: Right 17">
            <a:extLst>
              <a:ext uri="{FF2B5EF4-FFF2-40B4-BE49-F238E27FC236}">
                <a16:creationId xmlns:a16="http://schemas.microsoft.com/office/drawing/2014/main" id="{FF0A6476-93F4-4F39-89E1-B0A261CC52E7}"/>
              </a:ext>
            </a:extLst>
          </p:cNvPr>
          <p:cNvSpPr>
            <a:spLocks noGrp="1"/>
          </p:cNvSpPr>
          <p:nvPr/>
        </p:nvSpPr>
        <p:spPr>
          <a:xfrm>
            <a:off x="9039225" y="2676525"/>
            <a:ext cx="209550" cy="190500"/>
          </a:xfrm>
          <a:prstGeom prst="rightArrow">
            <a:avLst/>
          </a:prstGeom>
          <a:solidFill>
            <a:srgbClr val="117D79"/>
          </a:solidFill>
          <a:ln w="0">
            <a:noFill/>
          </a:ln>
        </p:spPr>
        <p:txBody>
          <a:bodyPr/>
          <a:lstStyle/>
          <a:p>
            <a:endParaRPr lang="en-IN"/>
          </a:p>
        </p:txBody>
      </p:sp>
      <p:sp>
        <p:nvSpPr>
          <p:cNvPr id="19" name="Rectangle 18">
            <a:extLst>
              <a:ext uri="{FF2B5EF4-FFF2-40B4-BE49-F238E27FC236}">
                <a16:creationId xmlns:a16="http://schemas.microsoft.com/office/drawing/2014/main" id="{DC17A5D6-7335-4007-B879-0451F9BFA469}"/>
              </a:ext>
            </a:extLst>
          </p:cNvPr>
          <p:cNvSpPr>
            <a:spLocks noGrp="1"/>
          </p:cNvSpPr>
          <p:nvPr/>
        </p:nvSpPr>
        <p:spPr>
          <a:xfrm>
            <a:off x="9296400" y="2381250"/>
            <a:ext cx="1809750" cy="809625"/>
          </a:xfrm>
          <a:prstGeom prst="rect">
            <a:avLst/>
          </a:prstGeom>
          <a:solidFill>
            <a:srgbClr val="F4F7F8"/>
          </a:solidFill>
          <a:ln w="9525">
            <a:solidFill>
              <a:srgbClr val="117D79"/>
            </a:solidFill>
          </a:ln>
        </p:spPr>
        <p:txBody>
          <a:bodyPr/>
          <a:lstStyle/>
          <a:p>
            <a:endParaRPr lang="en-IN"/>
          </a:p>
        </p:txBody>
      </p:sp>
      <p:sp>
        <p:nvSpPr>
          <p:cNvPr id="20" name="Rectangle 19">
            <a:extLst>
              <a:ext uri="{FF2B5EF4-FFF2-40B4-BE49-F238E27FC236}">
                <a16:creationId xmlns:a16="http://schemas.microsoft.com/office/drawing/2014/main" id="{759FE1C9-F693-4BA1-ABE4-4BC4A11B2F38}"/>
              </a:ext>
            </a:extLst>
          </p:cNvPr>
          <p:cNvSpPr>
            <a:spLocks noGrp="1"/>
          </p:cNvSpPr>
          <p:nvPr/>
        </p:nvSpPr>
        <p:spPr>
          <a:xfrm>
            <a:off x="9391650" y="2543175"/>
            <a:ext cx="1619250" cy="609600"/>
          </a:xfrm>
          <a:prstGeom prst="rect">
            <a:avLst/>
          </a:prstGeom>
          <a:noFill/>
          <a:ln w="0">
            <a:noFill/>
          </a:ln>
        </p:spPr>
        <p:txBody>
          <a:bodyPr lIns="0" tIns="0" rIns="0" bIns="0" anchor="t">
            <a:noAutofit/>
          </a:bodyPr>
          <a:lstStyle/>
          <a:p>
            <a:pPr algn="ctr">
              <a:defRPr sz="1575" b="1">
                <a:solidFill>
                  <a:srgbClr val="101A2E"/>
                </a:solidFill>
                <a:latin typeface="Inter"/>
                <a:ea typeface="Inter"/>
                <a:cs typeface="Inter"/>
              </a:defRPr>
            </a:pPr>
            <a:r>
              <a:rPr sz="1575" b="1">
                <a:solidFill>
                  <a:srgbClr val="101A2E"/>
                </a:solidFill>
                <a:latin typeface="Inter"/>
                <a:ea typeface="Inter"/>
                <a:cs typeface="Inter"/>
              </a:rPr>
              <a:t>Store metadata</a:t>
            </a:r>
          </a:p>
          <a:p>
            <a:pPr algn="ctr">
              <a:defRPr sz="1575" b="1">
                <a:solidFill>
                  <a:srgbClr val="101A2E"/>
                </a:solidFill>
                <a:latin typeface="Inter"/>
                <a:ea typeface="Inter"/>
                <a:cs typeface="Inter"/>
              </a:defRPr>
            </a:pPr>
            <a:r>
              <a:rPr sz="1575" b="1">
                <a:solidFill>
                  <a:srgbClr val="101A2E"/>
                </a:solidFill>
                <a:latin typeface="Inter"/>
                <a:ea typeface="Inter"/>
                <a:cs typeface="Inter"/>
              </a:rPr>
              <a:t>and source links</a:t>
            </a:r>
          </a:p>
        </p:txBody>
      </p:sp>
      <p:sp>
        <p:nvSpPr>
          <p:cNvPr id="21" name="Rectangle 20">
            <a:extLst>
              <a:ext uri="{FF2B5EF4-FFF2-40B4-BE49-F238E27FC236}">
                <a16:creationId xmlns:a16="http://schemas.microsoft.com/office/drawing/2014/main" id="{D387645C-38BE-42D3-81F5-BE0282D590C5}"/>
              </a:ext>
            </a:extLst>
          </p:cNvPr>
          <p:cNvSpPr>
            <a:spLocks noGrp="1"/>
          </p:cNvSpPr>
          <p:nvPr/>
        </p:nvSpPr>
        <p:spPr>
          <a:xfrm>
            <a:off x="762000" y="3638550"/>
            <a:ext cx="10668000" cy="342900"/>
          </a:xfrm>
          <a:prstGeom prst="rect">
            <a:avLst/>
          </a:prstGeom>
          <a:noFill/>
          <a:ln w="0">
            <a:noFill/>
          </a:ln>
        </p:spPr>
        <p:txBody>
          <a:bodyPr lIns="0" tIns="0" rIns="0" bIns="0" anchor="t">
            <a:noAutofit/>
          </a:bodyPr>
          <a:lstStyle/>
          <a:p>
            <a:pPr algn="l">
              <a:defRPr sz="1800" b="1">
                <a:solidFill>
                  <a:srgbClr val="117D79"/>
                </a:solidFill>
                <a:latin typeface="Inter"/>
                <a:ea typeface="Inter"/>
                <a:cs typeface="Inter"/>
              </a:defRPr>
            </a:pPr>
            <a:r>
              <a:rPr sz="1800" b="1">
                <a:solidFill>
                  <a:srgbClr val="117D79"/>
                </a:solidFill>
                <a:latin typeface="Inter"/>
                <a:ea typeface="Inter"/>
                <a:cs typeface="Inter"/>
              </a:rPr>
              <a:t>Answer</a:t>
            </a:r>
          </a:p>
        </p:txBody>
      </p:sp>
      <p:sp>
        <p:nvSpPr>
          <p:cNvPr id="22" name="Rectangle 21">
            <a:extLst>
              <a:ext uri="{FF2B5EF4-FFF2-40B4-BE49-F238E27FC236}">
                <a16:creationId xmlns:a16="http://schemas.microsoft.com/office/drawing/2014/main" id="{C09DFAA4-49B4-4DED-8058-17207C82D05D}"/>
              </a:ext>
            </a:extLst>
          </p:cNvPr>
          <p:cNvSpPr>
            <a:spLocks noGrp="1"/>
          </p:cNvSpPr>
          <p:nvPr/>
        </p:nvSpPr>
        <p:spPr>
          <a:xfrm>
            <a:off x="762000" y="4086225"/>
            <a:ext cx="1809750" cy="809625"/>
          </a:xfrm>
          <a:prstGeom prst="rect">
            <a:avLst/>
          </a:prstGeom>
          <a:solidFill>
            <a:srgbClr val="F4F7F8"/>
          </a:solidFill>
          <a:ln w="9525">
            <a:solidFill>
              <a:srgbClr val="117D79"/>
            </a:solidFill>
          </a:ln>
        </p:spPr>
        <p:txBody>
          <a:bodyPr/>
          <a:lstStyle/>
          <a:p>
            <a:endParaRPr lang="en-IN"/>
          </a:p>
        </p:txBody>
      </p:sp>
      <p:sp>
        <p:nvSpPr>
          <p:cNvPr id="23" name="Rectangle 22">
            <a:extLst>
              <a:ext uri="{FF2B5EF4-FFF2-40B4-BE49-F238E27FC236}">
                <a16:creationId xmlns:a16="http://schemas.microsoft.com/office/drawing/2014/main" id="{505071B1-6B03-4D93-8C2E-7F5636606A2C}"/>
              </a:ext>
            </a:extLst>
          </p:cNvPr>
          <p:cNvSpPr>
            <a:spLocks noGrp="1"/>
          </p:cNvSpPr>
          <p:nvPr/>
        </p:nvSpPr>
        <p:spPr>
          <a:xfrm>
            <a:off x="857250" y="4248150"/>
            <a:ext cx="1619250" cy="609600"/>
          </a:xfrm>
          <a:prstGeom prst="rect">
            <a:avLst/>
          </a:prstGeom>
          <a:noFill/>
          <a:ln w="0">
            <a:noFill/>
          </a:ln>
        </p:spPr>
        <p:txBody>
          <a:bodyPr lIns="0" tIns="0" rIns="0" bIns="0" anchor="t">
            <a:noAutofit/>
          </a:bodyPr>
          <a:lstStyle/>
          <a:p>
            <a:pPr algn="ctr">
              <a:defRPr sz="1575" b="1">
                <a:solidFill>
                  <a:srgbClr val="101A2E"/>
                </a:solidFill>
                <a:latin typeface="Inter"/>
                <a:ea typeface="Inter"/>
                <a:cs typeface="Inter"/>
              </a:defRPr>
            </a:pPr>
            <a:r>
              <a:rPr sz="1575" b="1">
                <a:solidFill>
                  <a:srgbClr val="101A2E"/>
                </a:solidFill>
                <a:latin typeface="Inter"/>
                <a:ea typeface="Inter"/>
                <a:cs typeface="Inter"/>
              </a:rPr>
              <a:t>Question</a:t>
            </a:r>
          </a:p>
          <a:p>
            <a:pPr algn="ctr">
              <a:defRPr sz="1575" b="1">
                <a:solidFill>
                  <a:srgbClr val="101A2E"/>
                </a:solidFill>
                <a:latin typeface="Inter"/>
                <a:ea typeface="Inter"/>
                <a:cs typeface="Inter"/>
              </a:defRPr>
            </a:pPr>
            <a:r>
              <a:rPr sz="1575" b="1">
                <a:solidFill>
                  <a:srgbClr val="101A2E"/>
                </a:solidFill>
                <a:latin typeface="Inter"/>
                <a:ea typeface="Inter"/>
                <a:cs typeface="Inter"/>
              </a:rPr>
              <a:t>and filters</a:t>
            </a:r>
          </a:p>
        </p:txBody>
      </p:sp>
      <p:sp>
        <p:nvSpPr>
          <p:cNvPr id="24" name="Arrow: Right 23">
            <a:extLst>
              <a:ext uri="{FF2B5EF4-FFF2-40B4-BE49-F238E27FC236}">
                <a16:creationId xmlns:a16="http://schemas.microsoft.com/office/drawing/2014/main" id="{86825AC2-AA83-4013-8B43-9030AA943516}"/>
              </a:ext>
            </a:extLst>
          </p:cNvPr>
          <p:cNvSpPr>
            <a:spLocks noGrp="1"/>
          </p:cNvSpPr>
          <p:nvPr/>
        </p:nvSpPr>
        <p:spPr>
          <a:xfrm>
            <a:off x="2638425" y="4381500"/>
            <a:ext cx="209550" cy="190500"/>
          </a:xfrm>
          <a:prstGeom prst="rightArrow">
            <a:avLst/>
          </a:prstGeom>
          <a:solidFill>
            <a:srgbClr val="117D79"/>
          </a:solidFill>
          <a:ln w="0">
            <a:noFill/>
          </a:ln>
        </p:spPr>
        <p:txBody>
          <a:bodyPr/>
          <a:lstStyle/>
          <a:p>
            <a:endParaRPr lang="en-IN"/>
          </a:p>
        </p:txBody>
      </p:sp>
      <p:sp>
        <p:nvSpPr>
          <p:cNvPr id="25" name="Rectangle 24">
            <a:extLst>
              <a:ext uri="{FF2B5EF4-FFF2-40B4-BE49-F238E27FC236}">
                <a16:creationId xmlns:a16="http://schemas.microsoft.com/office/drawing/2014/main" id="{1BA45F14-F151-4D01-93CD-08E9EC714095}"/>
              </a:ext>
            </a:extLst>
          </p:cNvPr>
          <p:cNvSpPr>
            <a:spLocks noGrp="1"/>
          </p:cNvSpPr>
          <p:nvPr/>
        </p:nvSpPr>
        <p:spPr>
          <a:xfrm>
            <a:off x="2895600" y="4086225"/>
            <a:ext cx="1809750" cy="809625"/>
          </a:xfrm>
          <a:prstGeom prst="rect">
            <a:avLst/>
          </a:prstGeom>
          <a:solidFill>
            <a:srgbClr val="F4F7F8"/>
          </a:solidFill>
          <a:ln w="9525">
            <a:solidFill>
              <a:srgbClr val="117D79"/>
            </a:solidFill>
          </a:ln>
        </p:spPr>
        <p:txBody>
          <a:bodyPr/>
          <a:lstStyle/>
          <a:p>
            <a:endParaRPr lang="en-IN"/>
          </a:p>
        </p:txBody>
      </p:sp>
      <p:sp>
        <p:nvSpPr>
          <p:cNvPr id="26" name="Rectangle 25">
            <a:extLst>
              <a:ext uri="{FF2B5EF4-FFF2-40B4-BE49-F238E27FC236}">
                <a16:creationId xmlns:a16="http://schemas.microsoft.com/office/drawing/2014/main" id="{D28B4F51-37FD-424E-847B-0B08DD13F363}"/>
              </a:ext>
            </a:extLst>
          </p:cNvPr>
          <p:cNvSpPr>
            <a:spLocks noGrp="1"/>
          </p:cNvSpPr>
          <p:nvPr/>
        </p:nvSpPr>
        <p:spPr>
          <a:xfrm>
            <a:off x="2990850" y="4248150"/>
            <a:ext cx="1619250" cy="609600"/>
          </a:xfrm>
          <a:prstGeom prst="rect">
            <a:avLst/>
          </a:prstGeom>
          <a:noFill/>
          <a:ln w="0">
            <a:noFill/>
          </a:ln>
        </p:spPr>
        <p:txBody>
          <a:bodyPr lIns="0" tIns="0" rIns="0" bIns="0" anchor="t">
            <a:noAutofit/>
          </a:bodyPr>
          <a:lstStyle/>
          <a:p>
            <a:pPr algn="ctr">
              <a:defRPr sz="1575" b="1">
                <a:solidFill>
                  <a:srgbClr val="101A2E"/>
                </a:solidFill>
                <a:latin typeface="Inter"/>
                <a:ea typeface="Inter"/>
                <a:cs typeface="Inter"/>
              </a:defRPr>
            </a:pPr>
            <a:r>
              <a:rPr sz="1575" b="1">
                <a:solidFill>
                  <a:srgbClr val="101A2E"/>
                </a:solidFill>
                <a:latin typeface="Inter"/>
                <a:ea typeface="Inter"/>
                <a:cs typeface="Inter"/>
              </a:rPr>
              <a:t>Retrieve and</a:t>
            </a:r>
          </a:p>
          <a:p>
            <a:pPr algn="ctr">
              <a:defRPr sz="1575" b="1">
                <a:solidFill>
                  <a:srgbClr val="101A2E"/>
                </a:solidFill>
                <a:latin typeface="Inter"/>
                <a:ea typeface="Inter"/>
                <a:cs typeface="Inter"/>
              </a:defRPr>
            </a:pPr>
            <a:r>
              <a:rPr sz="1575" b="1">
                <a:solidFill>
                  <a:srgbClr val="101A2E"/>
                </a:solidFill>
                <a:latin typeface="Inter"/>
                <a:ea typeface="Inter"/>
                <a:cs typeface="Inter"/>
              </a:rPr>
              <a:t>rank passages</a:t>
            </a:r>
          </a:p>
        </p:txBody>
      </p:sp>
      <p:sp>
        <p:nvSpPr>
          <p:cNvPr id="27" name="Arrow: Right 26">
            <a:extLst>
              <a:ext uri="{FF2B5EF4-FFF2-40B4-BE49-F238E27FC236}">
                <a16:creationId xmlns:a16="http://schemas.microsoft.com/office/drawing/2014/main" id="{12DA6815-6FC9-4F82-9F92-E2F08003056E}"/>
              </a:ext>
            </a:extLst>
          </p:cNvPr>
          <p:cNvSpPr>
            <a:spLocks noGrp="1"/>
          </p:cNvSpPr>
          <p:nvPr/>
        </p:nvSpPr>
        <p:spPr>
          <a:xfrm>
            <a:off x="4772025" y="4381500"/>
            <a:ext cx="209550" cy="190500"/>
          </a:xfrm>
          <a:prstGeom prst="rightArrow">
            <a:avLst/>
          </a:prstGeom>
          <a:solidFill>
            <a:srgbClr val="117D79"/>
          </a:solidFill>
          <a:ln w="0">
            <a:noFill/>
          </a:ln>
        </p:spPr>
        <p:txBody>
          <a:bodyPr/>
          <a:lstStyle/>
          <a:p>
            <a:endParaRPr lang="en-IN"/>
          </a:p>
        </p:txBody>
      </p:sp>
      <p:sp>
        <p:nvSpPr>
          <p:cNvPr id="28" name="Rectangle 27">
            <a:extLst>
              <a:ext uri="{FF2B5EF4-FFF2-40B4-BE49-F238E27FC236}">
                <a16:creationId xmlns:a16="http://schemas.microsoft.com/office/drawing/2014/main" id="{FE638878-A6D2-40FE-8ED7-071E2CDA0EF9}"/>
              </a:ext>
            </a:extLst>
          </p:cNvPr>
          <p:cNvSpPr>
            <a:spLocks noGrp="1"/>
          </p:cNvSpPr>
          <p:nvPr/>
        </p:nvSpPr>
        <p:spPr>
          <a:xfrm>
            <a:off x="5029200" y="4086225"/>
            <a:ext cx="1809750" cy="809625"/>
          </a:xfrm>
          <a:prstGeom prst="rect">
            <a:avLst/>
          </a:prstGeom>
          <a:solidFill>
            <a:srgbClr val="F4F7F8"/>
          </a:solidFill>
          <a:ln w="9525">
            <a:solidFill>
              <a:srgbClr val="117D79"/>
            </a:solidFill>
          </a:ln>
        </p:spPr>
        <p:txBody>
          <a:bodyPr/>
          <a:lstStyle/>
          <a:p>
            <a:endParaRPr lang="en-IN"/>
          </a:p>
        </p:txBody>
      </p:sp>
      <p:sp>
        <p:nvSpPr>
          <p:cNvPr id="29" name="Rectangle 28">
            <a:extLst>
              <a:ext uri="{FF2B5EF4-FFF2-40B4-BE49-F238E27FC236}">
                <a16:creationId xmlns:a16="http://schemas.microsoft.com/office/drawing/2014/main" id="{82737684-8239-4D26-9C32-4CE308BD11B3}"/>
              </a:ext>
            </a:extLst>
          </p:cNvPr>
          <p:cNvSpPr>
            <a:spLocks noGrp="1"/>
          </p:cNvSpPr>
          <p:nvPr/>
        </p:nvSpPr>
        <p:spPr>
          <a:xfrm>
            <a:off x="5124450" y="4248150"/>
            <a:ext cx="1619250" cy="609600"/>
          </a:xfrm>
          <a:prstGeom prst="rect">
            <a:avLst/>
          </a:prstGeom>
          <a:noFill/>
          <a:ln w="0">
            <a:noFill/>
          </a:ln>
        </p:spPr>
        <p:txBody>
          <a:bodyPr lIns="0" tIns="0" rIns="0" bIns="0" anchor="t">
            <a:noAutofit/>
          </a:bodyPr>
          <a:lstStyle/>
          <a:p>
            <a:pPr algn="ctr">
              <a:defRPr sz="1575" b="1">
                <a:solidFill>
                  <a:srgbClr val="101A2E"/>
                </a:solidFill>
                <a:latin typeface="Inter"/>
                <a:ea typeface="Inter"/>
                <a:cs typeface="Inter"/>
              </a:defRPr>
            </a:pPr>
            <a:r>
              <a:rPr sz="1575" b="1">
                <a:solidFill>
                  <a:srgbClr val="101A2E"/>
                </a:solidFill>
                <a:latin typeface="Inter"/>
                <a:ea typeface="Inter"/>
                <a:cs typeface="Inter"/>
              </a:rPr>
              <a:t>Select evidence</a:t>
            </a:r>
          </a:p>
          <a:p>
            <a:pPr algn="ctr">
              <a:defRPr sz="1575" b="1">
                <a:solidFill>
                  <a:srgbClr val="101A2E"/>
                </a:solidFill>
                <a:latin typeface="Inter"/>
                <a:ea typeface="Inter"/>
                <a:cs typeface="Inter"/>
              </a:defRPr>
            </a:pPr>
            <a:r>
              <a:rPr sz="1575" b="1">
                <a:solidFill>
                  <a:srgbClr val="101A2E"/>
                </a:solidFill>
                <a:latin typeface="Inter"/>
                <a:ea typeface="Inter"/>
                <a:cs typeface="Inter"/>
              </a:rPr>
              <a:t>within limits</a:t>
            </a:r>
          </a:p>
        </p:txBody>
      </p:sp>
      <p:sp>
        <p:nvSpPr>
          <p:cNvPr id="30" name="Arrow: Right 29">
            <a:extLst>
              <a:ext uri="{FF2B5EF4-FFF2-40B4-BE49-F238E27FC236}">
                <a16:creationId xmlns:a16="http://schemas.microsoft.com/office/drawing/2014/main" id="{8EB6F90E-5C7B-406E-BDEB-472B0AA25C56}"/>
              </a:ext>
            </a:extLst>
          </p:cNvPr>
          <p:cNvSpPr>
            <a:spLocks noGrp="1"/>
          </p:cNvSpPr>
          <p:nvPr/>
        </p:nvSpPr>
        <p:spPr>
          <a:xfrm>
            <a:off x="6905625" y="4381500"/>
            <a:ext cx="209550" cy="190500"/>
          </a:xfrm>
          <a:prstGeom prst="rightArrow">
            <a:avLst/>
          </a:prstGeom>
          <a:solidFill>
            <a:srgbClr val="117D79"/>
          </a:solidFill>
          <a:ln w="0">
            <a:noFill/>
          </a:ln>
        </p:spPr>
        <p:txBody>
          <a:bodyPr/>
          <a:lstStyle/>
          <a:p>
            <a:endParaRPr lang="en-IN"/>
          </a:p>
        </p:txBody>
      </p:sp>
      <p:sp>
        <p:nvSpPr>
          <p:cNvPr id="31" name="Rectangle 30">
            <a:extLst>
              <a:ext uri="{FF2B5EF4-FFF2-40B4-BE49-F238E27FC236}">
                <a16:creationId xmlns:a16="http://schemas.microsoft.com/office/drawing/2014/main" id="{F1BDF060-5D14-458C-978B-09A890CC8A87}"/>
              </a:ext>
            </a:extLst>
          </p:cNvPr>
          <p:cNvSpPr>
            <a:spLocks noGrp="1"/>
          </p:cNvSpPr>
          <p:nvPr/>
        </p:nvSpPr>
        <p:spPr>
          <a:xfrm>
            <a:off x="7162800" y="4086225"/>
            <a:ext cx="1809750" cy="809625"/>
          </a:xfrm>
          <a:prstGeom prst="rect">
            <a:avLst/>
          </a:prstGeom>
          <a:solidFill>
            <a:srgbClr val="F4F7F8"/>
          </a:solidFill>
          <a:ln w="9525">
            <a:solidFill>
              <a:srgbClr val="117D79"/>
            </a:solidFill>
          </a:ln>
        </p:spPr>
        <p:txBody>
          <a:bodyPr/>
          <a:lstStyle/>
          <a:p>
            <a:endParaRPr lang="en-IN"/>
          </a:p>
        </p:txBody>
      </p:sp>
      <p:sp>
        <p:nvSpPr>
          <p:cNvPr id="32" name="Rectangle 31">
            <a:extLst>
              <a:ext uri="{FF2B5EF4-FFF2-40B4-BE49-F238E27FC236}">
                <a16:creationId xmlns:a16="http://schemas.microsoft.com/office/drawing/2014/main" id="{2C3310F8-E29B-479D-9B6A-C15CEE6F476C}"/>
              </a:ext>
            </a:extLst>
          </p:cNvPr>
          <p:cNvSpPr>
            <a:spLocks noGrp="1"/>
          </p:cNvSpPr>
          <p:nvPr/>
        </p:nvSpPr>
        <p:spPr>
          <a:xfrm>
            <a:off x="7258050" y="4248150"/>
            <a:ext cx="1619250" cy="609600"/>
          </a:xfrm>
          <a:prstGeom prst="rect">
            <a:avLst/>
          </a:prstGeom>
          <a:noFill/>
          <a:ln w="0">
            <a:noFill/>
          </a:ln>
        </p:spPr>
        <p:txBody>
          <a:bodyPr lIns="0" tIns="0" rIns="0" bIns="0" anchor="t">
            <a:noAutofit/>
          </a:bodyPr>
          <a:lstStyle/>
          <a:p>
            <a:pPr algn="ctr">
              <a:defRPr sz="1575" b="1">
                <a:solidFill>
                  <a:srgbClr val="101A2E"/>
                </a:solidFill>
                <a:latin typeface="Inter"/>
                <a:ea typeface="Inter"/>
                <a:cs typeface="Inter"/>
              </a:defRPr>
            </a:pPr>
            <a:r>
              <a:rPr sz="1575" b="1">
                <a:solidFill>
                  <a:srgbClr val="101A2E"/>
                </a:solidFill>
                <a:latin typeface="Inter"/>
                <a:ea typeface="Inter"/>
                <a:cs typeface="Inter"/>
              </a:rPr>
              <a:t>Generate answer</a:t>
            </a:r>
          </a:p>
          <a:p>
            <a:pPr algn="ctr">
              <a:defRPr sz="1575" b="1">
                <a:solidFill>
                  <a:srgbClr val="101A2E"/>
                </a:solidFill>
                <a:latin typeface="Inter"/>
                <a:ea typeface="Inter"/>
                <a:cs typeface="Inter"/>
              </a:defRPr>
            </a:pPr>
            <a:r>
              <a:rPr sz="1575" b="1">
                <a:solidFill>
                  <a:srgbClr val="101A2E"/>
                </a:solidFill>
                <a:latin typeface="Inter"/>
                <a:ea typeface="Inter"/>
                <a:cs typeface="Inter"/>
              </a:rPr>
              <a:t>and check support</a:t>
            </a:r>
          </a:p>
        </p:txBody>
      </p:sp>
      <p:sp>
        <p:nvSpPr>
          <p:cNvPr id="33" name="Arrow: Right 32">
            <a:extLst>
              <a:ext uri="{FF2B5EF4-FFF2-40B4-BE49-F238E27FC236}">
                <a16:creationId xmlns:a16="http://schemas.microsoft.com/office/drawing/2014/main" id="{96FEE47A-6534-4AF8-8881-F962115EF76A}"/>
              </a:ext>
            </a:extLst>
          </p:cNvPr>
          <p:cNvSpPr>
            <a:spLocks noGrp="1"/>
          </p:cNvSpPr>
          <p:nvPr/>
        </p:nvSpPr>
        <p:spPr>
          <a:xfrm>
            <a:off x="9039225" y="4381500"/>
            <a:ext cx="209550" cy="190500"/>
          </a:xfrm>
          <a:prstGeom prst="rightArrow">
            <a:avLst/>
          </a:prstGeom>
          <a:solidFill>
            <a:srgbClr val="117D79"/>
          </a:solidFill>
          <a:ln w="0">
            <a:noFill/>
          </a:ln>
        </p:spPr>
        <p:txBody>
          <a:bodyPr/>
          <a:lstStyle/>
          <a:p>
            <a:endParaRPr lang="en-IN"/>
          </a:p>
        </p:txBody>
      </p:sp>
      <p:sp>
        <p:nvSpPr>
          <p:cNvPr id="34" name="Rectangle 33">
            <a:extLst>
              <a:ext uri="{FF2B5EF4-FFF2-40B4-BE49-F238E27FC236}">
                <a16:creationId xmlns:a16="http://schemas.microsoft.com/office/drawing/2014/main" id="{D83B6410-5070-4F82-AC8E-66340E612E8D}"/>
              </a:ext>
            </a:extLst>
          </p:cNvPr>
          <p:cNvSpPr>
            <a:spLocks noGrp="1"/>
          </p:cNvSpPr>
          <p:nvPr/>
        </p:nvSpPr>
        <p:spPr>
          <a:xfrm>
            <a:off x="9296400" y="4086225"/>
            <a:ext cx="1809750" cy="809625"/>
          </a:xfrm>
          <a:prstGeom prst="rect">
            <a:avLst/>
          </a:prstGeom>
          <a:solidFill>
            <a:srgbClr val="F4F7F8"/>
          </a:solidFill>
          <a:ln w="9525">
            <a:solidFill>
              <a:srgbClr val="117D79"/>
            </a:solidFill>
          </a:ln>
        </p:spPr>
        <p:txBody>
          <a:bodyPr/>
          <a:lstStyle/>
          <a:p>
            <a:endParaRPr lang="en-IN"/>
          </a:p>
        </p:txBody>
      </p:sp>
      <p:sp>
        <p:nvSpPr>
          <p:cNvPr id="35" name="Rectangle 34">
            <a:extLst>
              <a:ext uri="{FF2B5EF4-FFF2-40B4-BE49-F238E27FC236}">
                <a16:creationId xmlns:a16="http://schemas.microsoft.com/office/drawing/2014/main" id="{1D77ACD8-97F3-4F5E-BB2D-74E0F7320CEE}"/>
              </a:ext>
            </a:extLst>
          </p:cNvPr>
          <p:cNvSpPr>
            <a:spLocks noGrp="1"/>
          </p:cNvSpPr>
          <p:nvPr/>
        </p:nvSpPr>
        <p:spPr>
          <a:xfrm>
            <a:off x="9391650" y="4248150"/>
            <a:ext cx="1619250" cy="609600"/>
          </a:xfrm>
          <a:prstGeom prst="rect">
            <a:avLst/>
          </a:prstGeom>
          <a:noFill/>
          <a:ln w="0">
            <a:noFill/>
          </a:ln>
        </p:spPr>
        <p:txBody>
          <a:bodyPr lIns="0" tIns="0" rIns="0" bIns="0" anchor="t">
            <a:noAutofit/>
          </a:bodyPr>
          <a:lstStyle/>
          <a:p>
            <a:pPr algn="ctr">
              <a:defRPr sz="1575" b="1">
                <a:solidFill>
                  <a:srgbClr val="101A2E"/>
                </a:solidFill>
                <a:latin typeface="Inter"/>
                <a:ea typeface="Inter"/>
                <a:cs typeface="Inter"/>
              </a:defRPr>
            </a:pPr>
            <a:r>
              <a:rPr sz="1575" b="1">
                <a:solidFill>
                  <a:srgbClr val="101A2E"/>
                </a:solidFill>
                <a:latin typeface="Inter"/>
                <a:ea typeface="Inter"/>
                <a:cs typeface="Inter"/>
              </a:rPr>
              <a:t>Display answer</a:t>
            </a:r>
          </a:p>
          <a:p>
            <a:pPr algn="ctr">
              <a:defRPr sz="1575" b="1">
                <a:solidFill>
                  <a:srgbClr val="101A2E"/>
                </a:solidFill>
                <a:latin typeface="Inter"/>
                <a:ea typeface="Inter"/>
                <a:cs typeface="Inter"/>
              </a:defRPr>
            </a:pPr>
            <a:r>
              <a:rPr sz="1575" b="1">
                <a:solidFill>
                  <a:srgbClr val="101A2E"/>
                </a:solidFill>
                <a:latin typeface="Inter"/>
                <a:ea typeface="Inter"/>
                <a:cs typeface="Inter"/>
              </a:rPr>
              <a:t>and source links</a:t>
            </a:r>
          </a:p>
        </p:txBody>
      </p:sp>
      <p:sp>
        <p:nvSpPr>
          <p:cNvPr id="36" name="Rectangle 35">
            <a:extLst>
              <a:ext uri="{FF2B5EF4-FFF2-40B4-BE49-F238E27FC236}">
                <a16:creationId xmlns:a16="http://schemas.microsoft.com/office/drawing/2014/main" id="{15B8DB98-EE42-4723-8F29-8910B1039E0B}"/>
              </a:ext>
            </a:extLst>
          </p:cNvPr>
          <p:cNvSpPr>
            <a:spLocks noGrp="1"/>
          </p:cNvSpPr>
          <p:nvPr/>
        </p:nvSpPr>
        <p:spPr>
          <a:xfrm>
            <a:off x="762000" y="5267325"/>
            <a:ext cx="10668000" cy="342900"/>
          </a:xfrm>
          <a:prstGeom prst="rect">
            <a:avLst/>
          </a:prstGeom>
          <a:noFill/>
          <a:ln w="0">
            <a:noFill/>
          </a:ln>
        </p:spPr>
        <p:txBody>
          <a:bodyPr lIns="0" tIns="0" rIns="0" bIns="0" anchor="t">
            <a:noAutofit/>
          </a:bodyPr>
          <a:lstStyle/>
          <a:p>
            <a:pPr algn="l">
              <a:defRPr sz="1800" b="0">
                <a:solidFill>
                  <a:srgbClr val="101A2E"/>
                </a:solidFill>
                <a:latin typeface="Inter"/>
                <a:ea typeface="Inter"/>
                <a:cs typeface="Inter"/>
              </a:defRPr>
            </a:pPr>
            <a:r>
              <a:rPr sz="1800" b="0">
                <a:solidFill>
                  <a:srgbClr val="101A2E"/>
                </a:solidFill>
                <a:latin typeface="Inter"/>
                <a:ea typeface="Inter"/>
                <a:cs typeface="Inter"/>
              </a:rPr>
              <a:t>Exact search finds references; semantic search finds similar meanings.</a:t>
            </a:r>
          </a:p>
        </p:txBody>
      </p:sp>
    </p:spTree>
    <p:extLst>
      <p:ext uri="{BB962C8B-B14F-4D97-AF65-F5344CB8AC3E}">
        <p14:creationId xmlns:p14="http://schemas.microsoft.com/office/powerpoint/2010/main" val="6045873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200558C-E45A-4FD8-ADD4-36291763B18A}"/>
              </a:ext>
            </a:extLst>
          </p:cNvPr>
          <p:cNvSpPr>
            <a:spLocks noGrp="1"/>
          </p:cNvSpPr>
          <p:nvPr/>
        </p:nvSpPr>
        <p:spPr>
          <a:xfrm>
            <a:off x="0" y="0"/>
            <a:ext cx="12192000" cy="57150"/>
          </a:xfrm>
          <a:prstGeom prst="rect">
            <a:avLst/>
          </a:prstGeom>
          <a:solidFill>
            <a:srgbClr val="117D79"/>
          </a:solidFill>
          <a:ln w="0">
            <a:noFill/>
          </a:ln>
        </p:spPr>
        <p:txBody>
          <a:bodyPr/>
          <a:lstStyle/>
          <a:p>
            <a:endParaRPr lang="en-IN"/>
          </a:p>
        </p:txBody>
      </p:sp>
      <p:sp>
        <p:nvSpPr>
          <p:cNvPr id="2" name="Rectangle 1">
            <a:extLst>
              <a:ext uri="{FF2B5EF4-FFF2-40B4-BE49-F238E27FC236}">
                <a16:creationId xmlns:a16="http://schemas.microsoft.com/office/drawing/2014/main" id="{29C7B250-48E4-4F87-9ECF-56F6ADD8C8E3}"/>
              </a:ext>
            </a:extLst>
          </p:cNvPr>
          <p:cNvSpPr>
            <a:spLocks noGrp="1"/>
          </p:cNvSpPr>
          <p:nvPr/>
        </p:nvSpPr>
        <p:spPr>
          <a:xfrm>
            <a:off x="723900" y="533400"/>
            <a:ext cx="10763250" cy="714375"/>
          </a:xfrm>
          <a:prstGeom prst="rect">
            <a:avLst/>
          </a:prstGeom>
          <a:noFill/>
          <a:ln w="0">
            <a:noFill/>
          </a:ln>
        </p:spPr>
        <p:txBody>
          <a:bodyPr lIns="0" tIns="0" rIns="0" bIns="0" anchor="t">
            <a:noAutofit/>
          </a:bodyPr>
          <a:lstStyle/>
          <a:p>
            <a:pPr algn="l">
              <a:defRPr sz="3150" b="0">
                <a:solidFill>
                  <a:srgbClr val="101A2E"/>
                </a:solidFill>
                <a:latin typeface="Georgia"/>
                <a:ea typeface="Georgia"/>
                <a:cs typeface="Georgia"/>
              </a:defRPr>
            </a:pPr>
            <a:r>
              <a:rPr sz="3150" b="0">
                <a:solidFill>
                  <a:srgbClr val="101A2E"/>
                </a:solidFill>
                <a:latin typeface="Georgia"/>
                <a:ea typeface="Georgia"/>
                <a:cs typeface="Georgia"/>
              </a:rPr>
              <a:t>What the Preliminary Evaluation Tells Us</a:t>
            </a:r>
          </a:p>
        </p:txBody>
      </p:sp>
      <p:sp>
        <p:nvSpPr>
          <p:cNvPr id="3" name="Rectangle 2">
            <a:extLst>
              <a:ext uri="{FF2B5EF4-FFF2-40B4-BE49-F238E27FC236}">
                <a16:creationId xmlns:a16="http://schemas.microsoft.com/office/drawing/2014/main" id="{DD4338E9-E3F7-4C88-81AA-5C5A673F64DD}"/>
              </a:ext>
            </a:extLst>
          </p:cNvPr>
          <p:cNvSpPr>
            <a:spLocks noGrp="1"/>
          </p:cNvSpPr>
          <p:nvPr/>
        </p:nvSpPr>
        <p:spPr>
          <a:xfrm>
            <a:off x="742950" y="1343025"/>
            <a:ext cx="10620375" cy="381000"/>
          </a:xfrm>
          <a:prstGeom prst="rect">
            <a:avLst/>
          </a:prstGeom>
          <a:noFill/>
          <a:ln w="0">
            <a:noFill/>
          </a:ln>
        </p:spPr>
        <p:txBody>
          <a:bodyPr lIns="0" tIns="0" rIns="0" bIns="0" anchor="t">
            <a:noAutofit/>
          </a:bodyPr>
          <a:lstStyle/>
          <a:p>
            <a:pPr algn="l">
              <a:defRPr sz="1500" b="0">
                <a:solidFill>
                  <a:srgbClr val="596C84"/>
                </a:solidFill>
                <a:latin typeface="Inter"/>
                <a:ea typeface="Inter"/>
                <a:cs typeface="Inter"/>
              </a:defRPr>
            </a:pPr>
            <a:r>
              <a:rPr sz="1500" b="0">
                <a:solidFill>
                  <a:srgbClr val="596C84"/>
                </a:solidFill>
                <a:latin typeface="Inter"/>
                <a:ea typeface="Inter"/>
                <a:cs typeface="Inter"/>
              </a:rPr>
              <a:t>Purpose: does more complex search find better evidence? Same 50 UPI cases and corpus.</a:t>
            </a:r>
          </a:p>
        </p:txBody>
      </p:sp>
      <p:sp>
        <p:nvSpPr>
          <p:cNvPr id="4" name="Rectangle 3">
            <a:extLst>
              <a:ext uri="{FF2B5EF4-FFF2-40B4-BE49-F238E27FC236}">
                <a16:creationId xmlns:a16="http://schemas.microsoft.com/office/drawing/2014/main" id="{079513A0-218D-43D3-83A9-CC7033108B09}"/>
              </a:ext>
            </a:extLst>
          </p:cNvPr>
          <p:cNvSpPr>
            <a:spLocks noGrp="1"/>
          </p:cNvSpPr>
          <p:nvPr/>
        </p:nvSpPr>
        <p:spPr>
          <a:xfrm>
            <a:off x="742950" y="6410325"/>
            <a:ext cx="9620250" cy="209550"/>
          </a:xfrm>
          <a:prstGeom prst="rect">
            <a:avLst/>
          </a:prstGeom>
          <a:noFill/>
          <a:ln w="0">
            <a:noFill/>
          </a:ln>
        </p:spPr>
        <p:txBody>
          <a:bodyPr lIns="0" tIns="0" rIns="0" bIns="0" anchor="t">
            <a:noAutofit/>
          </a:bodyPr>
          <a:lstStyle/>
          <a:p>
            <a:pPr algn="l">
              <a:defRPr sz="1050" b="0">
                <a:solidFill>
                  <a:srgbClr val="596C84"/>
                </a:solidFill>
                <a:latin typeface="Inter"/>
                <a:ea typeface="Inter"/>
                <a:cs typeface="Inter"/>
              </a:defRPr>
            </a:pPr>
            <a:r>
              <a:rPr sz="1050" b="0">
                <a:solidFill>
                  <a:srgbClr val="596C84"/>
                </a:solidFill>
                <a:latin typeface="Inter"/>
                <a:ea typeface="Inter"/>
                <a:cs typeface="Inter"/>
              </a:rPr>
              <a:t>Payments Guidelines Query Expert   /   Midterm capstone</a:t>
            </a:r>
          </a:p>
        </p:txBody>
      </p:sp>
      <p:sp>
        <p:nvSpPr>
          <p:cNvPr id="5" name="Rectangle 4">
            <a:extLst>
              <a:ext uri="{FF2B5EF4-FFF2-40B4-BE49-F238E27FC236}">
                <a16:creationId xmlns:a16="http://schemas.microsoft.com/office/drawing/2014/main" id="{5BFBB46F-B7E8-4D08-B955-02BB016E7489}"/>
              </a:ext>
            </a:extLst>
          </p:cNvPr>
          <p:cNvSpPr>
            <a:spLocks noGrp="1"/>
          </p:cNvSpPr>
          <p:nvPr/>
        </p:nvSpPr>
        <p:spPr>
          <a:xfrm>
            <a:off x="11049000" y="6410325"/>
            <a:ext cx="476250" cy="238125"/>
          </a:xfrm>
          <a:prstGeom prst="rect">
            <a:avLst/>
          </a:prstGeom>
          <a:noFill/>
          <a:ln w="0">
            <a:noFill/>
          </a:ln>
        </p:spPr>
        <p:txBody>
          <a:bodyPr lIns="0" tIns="0" rIns="0" bIns="0" anchor="t">
            <a:noAutofit/>
          </a:bodyPr>
          <a:lstStyle/>
          <a:p>
            <a:pPr algn="l">
              <a:defRPr sz="1200" b="1">
                <a:solidFill>
                  <a:srgbClr val="117D79"/>
                </a:solidFill>
                <a:latin typeface="Inter"/>
                <a:ea typeface="Inter"/>
                <a:cs typeface="Inter"/>
              </a:defRPr>
            </a:pPr>
            <a:r>
              <a:rPr sz="1200" b="1">
                <a:solidFill>
                  <a:srgbClr val="117D79"/>
                </a:solidFill>
                <a:latin typeface="Inter"/>
                <a:ea typeface="Inter"/>
                <a:cs typeface="Inter"/>
              </a:rPr>
              <a:t>06</a:t>
            </a:r>
          </a:p>
        </p:txBody>
      </p:sp>
      <p:graphicFrame>
        <p:nvGraphicFramePr>
          <p:cNvPr id="16" name="Table 15"/>
          <p:cNvGraphicFramePr/>
          <p:nvPr/>
        </p:nvGraphicFramePr>
        <p:xfrm>
          <a:off x="762000" y="1905000"/>
          <a:ext cx="10668000" cy="2343150"/>
        </p:xfrm>
        <a:graphic>
          <a:graphicData uri="http://schemas.openxmlformats.org/drawingml/2006/table">
            <a:tbl>
              <a:tblPr/>
              <a:tblGrid>
                <a:gridCol w="3143250">
                  <a:extLst>
                    <a:ext uri="{9D8B030D-6E8A-4147-A177-3AD203B41FA5}">
                      <a16:colId xmlns:a16="http://schemas.microsoft.com/office/drawing/2014/main" val="20000"/>
                    </a:ext>
                  </a:extLst>
                </a:gridCol>
                <a:gridCol w="2428875">
                  <a:extLst>
                    <a:ext uri="{9D8B030D-6E8A-4147-A177-3AD203B41FA5}">
                      <a16:colId xmlns:a16="http://schemas.microsoft.com/office/drawing/2014/main" val="20001"/>
                    </a:ext>
                  </a:extLst>
                </a:gridCol>
                <a:gridCol w="2762250">
                  <a:extLst>
                    <a:ext uri="{9D8B030D-6E8A-4147-A177-3AD203B41FA5}">
                      <a16:colId xmlns:a16="http://schemas.microsoft.com/office/drawing/2014/main" val="20002"/>
                    </a:ext>
                  </a:extLst>
                </a:gridCol>
                <a:gridCol w="2333625">
                  <a:extLst>
                    <a:ext uri="{9D8B030D-6E8A-4147-A177-3AD203B41FA5}">
                      <a16:colId xmlns:a16="http://schemas.microsoft.com/office/drawing/2014/main" val="20003"/>
                    </a:ext>
                  </a:extLst>
                </a:gridCol>
              </a:tblGrid>
              <a:tr h="468630">
                <a:tc>
                  <a:txBody>
                    <a:bodyPr/>
                    <a:lstStyle/>
                    <a:p>
                      <a:r>
                        <a:rPr sz="1650" b="1">
                          <a:solidFill>
                            <a:srgbClr val="FFFFFF"/>
                          </a:solidFill>
                          <a:latin typeface="Inter"/>
                          <a:ea typeface="Inter"/>
                          <a:cs typeface="Inter"/>
                        </a:rPr>
                        <a:t>Search method</a:t>
                      </a:r>
                    </a:p>
                  </a:txBody>
                  <a:tcPr anchor="ctr">
                    <a:solidFill>
                      <a:srgbClr val="117D79"/>
                    </a:solidFill>
                  </a:tcPr>
                </a:tc>
                <a:tc>
                  <a:txBody>
                    <a:bodyPr/>
                    <a:lstStyle/>
                    <a:p>
                      <a:r>
                        <a:rPr sz="1650" b="1">
                          <a:solidFill>
                            <a:srgbClr val="FFFFFF"/>
                          </a:solidFill>
                          <a:latin typeface="Inter"/>
                          <a:ea typeface="Inter"/>
                          <a:cs typeface="Inter"/>
                        </a:rPr>
                        <a:t>Evidence found</a:t>
                      </a:r>
                    </a:p>
                  </a:txBody>
                  <a:tcPr anchor="ctr">
                    <a:solidFill>
                      <a:srgbClr val="117D79"/>
                    </a:solidFill>
                  </a:tcPr>
                </a:tc>
                <a:tc>
                  <a:txBody>
                    <a:bodyPr/>
                    <a:lstStyle/>
                    <a:p>
                      <a:r>
                        <a:rPr sz="1650" b="1">
                          <a:solidFill>
                            <a:srgbClr val="FFFFFF"/>
                          </a:solidFill>
                          <a:latin typeface="Inter"/>
                          <a:ea typeface="Inter"/>
                          <a:cs typeface="Inter"/>
                        </a:rPr>
                        <a:t>Negatives with no result</a:t>
                      </a:r>
                    </a:p>
                  </a:txBody>
                  <a:tcPr anchor="ctr">
                    <a:solidFill>
                      <a:srgbClr val="117D79"/>
                    </a:solidFill>
                  </a:tcPr>
                </a:tc>
                <a:tc>
                  <a:txBody>
                    <a:bodyPr/>
                    <a:lstStyle/>
                    <a:p>
                      <a:r>
                        <a:rPr sz="1650" b="1">
                          <a:solidFill>
                            <a:srgbClr val="FFFFFF"/>
                          </a:solidFill>
                          <a:latin typeface="Inter"/>
                          <a:ea typeface="Inter"/>
                          <a:cs typeface="Inter"/>
                        </a:rPr>
                        <a:t>Search time (ms)</a:t>
                      </a:r>
                    </a:p>
                  </a:txBody>
                  <a:tcPr anchor="ctr">
                    <a:solidFill>
                      <a:srgbClr val="117D79"/>
                    </a:solidFill>
                  </a:tcPr>
                </a:tc>
                <a:extLst>
                  <a:ext uri="{0D108BD9-81ED-4DB2-BD59-A6C34878D82A}">
                    <a16:rowId xmlns:a16="http://schemas.microsoft.com/office/drawing/2014/main" val="10000"/>
                  </a:ext>
                </a:extLst>
              </a:tr>
              <a:tr h="468630">
                <a:tc>
                  <a:txBody>
                    <a:bodyPr/>
                    <a:lstStyle/>
                    <a:p>
                      <a:r>
                        <a:rPr sz="1650" b="0">
                          <a:solidFill>
                            <a:srgbClr val="101A2E"/>
                          </a:solidFill>
                          <a:latin typeface="Inter"/>
                          <a:ea typeface="Inter"/>
                          <a:cs typeface="Inter"/>
                        </a:rPr>
                        <a:t>BM25</a:t>
                      </a:r>
                    </a:p>
                  </a:txBody>
                  <a:tcPr anchor="ctr">
                    <a:solidFill>
                      <a:srgbClr val="F4F7F8"/>
                    </a:solidFill>
                  </a:tcPr>
                </a:tc>
                <a:tc>
                  <a:txBody>
                    <a:bodyPr/>
                    <a:lstStyle/>
                    <a:p>
                      <a:r>
                        <a:rPr sz="1650" b="0">
                          <a:solidFill>
                            <a:srgbClr val="101A2E"/>
                          </a:solidFill>
                          <a:latin typeface="Inter"/>
                          <a:ea typeface="Inter"/>
                          <a:cs typeface="Inter"/>
                        </a:rPr>
                        <a:t>55/55</a:t>
                      </a:r>
                    </a:p>
                  </a:txBody>
                  <a:tcPr anchor="ctr">
                    <a:solidFill>
                      <a:srgbClr val="F4F7F8"/>
                    </a:solidFill>
                  </a:tcPr>
                </a:tc>
                <a:tc>
                  <a:txBody>
                    <a:bodyPr/>
                    <a:lstStyle/>
                    <a:p>
                      <a:r>
                        <a:rPr sz="1650" b="0">
                          <a:solidFill>
                            <a:srgbClr val="101A2E"/>
                          </a:solidFill>
                          <a:latin typeface="Inter"/>
                          <a:ea typeface="Inter"/>
                          <a:cs typeface="Inter"/>
                        </a:rPr>
                        <a:t>6/6</a:t>
                      </a:r>
                    </a:p>
                  </a:txBody>
                  <a:tcPr anchor="ctr">
                    <a:solidFill>
                      <a:srgbClr val="F4F7F8"/>
                    </a:solidFill>
                  </a:tcPr>
                </a:tc>
                <a:tc>
                  <a:txBody>
                    <a:bodyPr/>
                    <a:lstStyle/>
                    <a:p>
                      <a:r>
                        <a:rPr sz="1650" b="0">
                          <a:solidFill>
                            <a:srgbClr val="101A2E"/>
                          </a:solidFill>
                          <a:latin typeface="Inter"/>
                          <a:ea typeface="Inter"/>
                          <a:cs typeface="Inter"/>
                        </a:rPr>
                        <a:t>12.0</a:t>
                      </a:r>
                    </a:p>
                  </a:txBody>
                  <a:tcPr anchor="ctr">
                    <a:solidFill>
                      <a:srgbClr val="F4F7F8"/>
                    </a:solidFill>
                  </a:tcPr>
                </a:tc>
                <a:extLst>
                  <a:ext uri="{0D108BD9-81ED-4DB2-BD59-A6C34878D82A}">
                    <a16:rowId xmlns:a16="http://schemas.microsoft.com/office/drawing/2014/main" val="10001"/>
                  </a:ext>
                </a:extLst>
              </a:tr>
              <a:tr h="468630">
                <a:tc>
                  <a:txBody>
                    <a:bodyPr/>
                    <a:lstStyle/>
                    <a:p>
                      <a:r>
                        <a:rPr sz="1650" b="0">
                          <a:solidFill>
                            <a:srgbClr val="101A2E"/>
                          </a:solidFill>
                          <a:latin typeface="Inter"/>
                          <a:ea typeface="Inter"/>
                          <a:cs typeface="Inter"/>
                        </a:rPr>
                        <a:t>Vector</a:t>
                      </a:r>
                    </a:p>
                  </a:txBody>
                  <a:tcPr anchor="ctr">
                    <a:solidFill>
                      <a:srgbClr val="FFFFFF"/>
                    </a:solidFill>
                  </a:tcPr>
                </a:tc>
                <a:tc>
                  <a:txBody>
                    <a:bodyPr/>
                    <a:lstStyle/>
                    <a:p>
                      <a:r>
                        <a:rPr sz="1650" b="0">
                          <a:solidFill>
                            <a:srgbClr val="101A2E"/>
                          </a:solidFill>
                          <a:latin typeface="Inter"/>
                          <a:ea typeface="Inter"/>
                          <a:cs typeface="Inter"/>
                        </a:rPr>
                        <a:t>55/55</a:t>
                      </a:r>
                    </a:p>
                  </a:txBody>
                  <a:tcPr anchor="ctr">
                    <a:solidFill>
                      <a:srgbClr val="FFFFFF"/>
                    </a:solidFill>
                  </a:tcPr>
                </a:tc>
                <a:tc>
                  <a:txBody>
                    <a:bodyPr/>
                    <a:lstStyle/>
                    <a:p>
                      <a:r>
                        <a:rPr sz="1650" b="0">
                          <a:solidFill>
                            <a:srgbClr val="101A2E"/>
                          </a:solidFill>
                          <a:latin typeface="Inter"/>
                          <a:ea typeface="Inter"/>
                          <a:cs typeface="Inter"/>
                        </a:rPr>
                        <a:t>5/6</a:t>
                      </a:r>
                    </a:p>
                  </a:txBody>
                  <a:tcPr anchor="ctr">
                    <a:solidFill>
                      <a:srgbClr val="FFFFFF"/>
                    </a:solidFill>
                  </a:tcPr>
                </a:tc>
                <a:tc>
                  <a:txBody>
                    <a:bodyPr/>
                    <a:lstStyle/>
                    <a:p>
                      <a:r>
                        <a:rPr sz="1650" b="0">
                          <a:solidFill>
                            <a:srgbClr val="101A2E"/>
                          </a:solidFill>
                          <a:latin typeface="Inter"/>
                          <a:ea typeface="Inter"/>
                          <a:cs typeface="Inter"/>
                        </a:rPr>
                        <a:t>83.0</a:t>
                      </a:r>
                    </a:p>
                  </a:txBody>
                  <a:tcPr anchor="ctr">
                    <a:solidFill>
                      <a:srgbClr val="FFFFFF"/>
                    </a:solidFill>
                  </a:tcPr>
                </a:tc>
                <a:extLst>
                  <a:ext uri="{0D108BD9-81ED-4DB2-BD59-A6C34878D82A}">
                    <a16:rowId xmlns:a16="http://schemas.microsoft.com/office/drawing/2014/main" val="10002"/>
                  </a:ext>
                </a:extLst>
              </a:tr>
              <a:tr h="468630">
                <a:tc>
                  <a:txBody>
                    <a:bodyPr/>
                    <a:lstStyle/>
                    <a:p>
                      <a:r>
                        <a:rPr sz="1650" b="0">
                          <a:solidFill>
                            <a:srgbClr val="101A2E"/>
                          </a:solidFill>
                          <a:latin typeface="Inter"/>
                          <a:ea typeface="Inter"/>
                          <a:cs typeface="Inter"/>
                        </a:rPr>
                        <a:t>Hybrid</a:t>
                      </a:r>
                    </a:p>
                  </a:txBody>
                  <a:tcPr anchor="ctr">
                    <a:solidFill>
                      <a:srgbClr val="F4F7F8"/>
                    </a:solidFill>
                  </a:tcPr>
                </a:tc>
                <a:tc>
                  <a:txBody>
                    <a:bodyPr/>
                    <a:lstStyle/>
                    <a:p>
                      <a:r>
                        <a:rPr sz="1650" b="0">
                          <a:solidFill>
                            <a:srgbClr val="101A2E"/>
                          </a:solidFill>
                          <a:latin typeface="Inter"/>
                          <a:ea typeface="Inter"/>
                          <a:cs typeface="Inter"/>
                        </a:rPr>
                        <a:t>55/55</a:t>
                      </a:r>
                    </a:p>
                  </a:txBody>
                  <a:tcPr anchor="ctr">
                    <a:solidFill>
                      <a:srgbClr val="F4F7F8"/>
                    </a:solidFill>
                  </a:tcPr>
                </a:tc>
                <a:tc>
                  <a:txBody>
                    <a:bodyPr/>
                    <a:lstStyle/>
                    <a:p>
                      <a:r>
                        <a:rPr sz="1650" b="0">
                          <a:solidFill>
                            <a:srgbClr val="101A2E"/>
                          </a:solidFill>
                          <a:latin typeface="Inter"/>
                          <a:ea typeface="Inter"/>
                          <a:cs typeface="Inter"/>
                        </a:rPr>
                        <a:t>5/6</a:t>
                      </a:r>
                    </a:p>
                  </a:txBody>
                  <a:tcPr anchor="ctr">
                    <a:solidFill>
                      <a:srgbClr val="F4F7F8"/>
                    </a:solidFill>
                  </a:tcPr>
                </a:tc>
                <a:tc>
                  <a:txBody>
                    <a:bodyPr/>
                    <a:lstStyle/>
                    <a:p>
                      <a:r>
                        <a:rPr sz="1650" b="0">
                          <a:solidFill>
                            <a:srgbClr val="101A2E"/>
                          </a:solidFill>
                          <a:latin typeface="Inter"/>
                          <a:ea typeface="Inter"/>
                          <a:cs typeface="Inter"/>
                        </a:rPr>
                        <a:t>78.0</a:t>
                      </a:r>
                    </a:p>
                  </a:txBody>
                  <a:tcPr anchor="ctr">
                    <a:solidFill>
                      <a:srgbClr val="F4F7F8"/>
                    </a:solidFill>
                  </a:tcPr>
                </a:tc>
                <a:extLst>
                  <a:ext uri="{0D108BD9-81ED-4DB2-BD59-A6C34878D82A}">
                    <a16:rowId xmlns:a16="http://schemas.microsoft.com/office/drawing/2014/main" val="10003"/>
                  </a:ext>
                </a:extLst>
              </a:tr>
              <a:tr h="468630">
                <a:tc>
                  <a:txBody>
                    <a:bodyPr/>
                    <a:lstStyle/>
                    <a:p>
                      <a:r>
                        <a:rPr sz="1650" b="0">
                          <a:solidFill>
                            <a:srgbClr val="101A2E"/>
                          </a:solidFill>
                          <a:latin typeface="Inter"/>
                          <a:ea typeface="Inter"/>
                          <a:cs typeface="Inter"/>
                        </a:rPr>
                        <a:t>Hybrid + reranker</a:t>
                      </a:r>
                    </a:p>
                  </a:txBody>
                  <a:tcPr anchor="ctr">
                    <a:solidFill>
                      <a:srgbClr val="FFFFFF"/>
                    </a:solidFill>
                  </a:tcPr>
                </a:tc>
                <a:tc>
                  <a:txBody>
                    <a:bodyPr/>
                    <a:lstStyle/>
                    <a:p>
                      <a:r>
                        <a:rPr sz="1650" b="0">
                          <a:solidFill>
                            <a:srgbClr val="101A2E"/>
                          </a:solidFill>
                          <a:latin typeface="Inter"/>
                          <a:ea typeface="Inter"/>
                          <a:cs typeface="Inter"/>
                        </a:rPr>
                        <a:t>55/55</a:t>
                      </a:r>
                    </a:p>
                  </a:txBody>
                  <a:tcPr anchor="ctr">
                    <a:solidFill>
                      <a:srgbClr val="FFFFFF"/>
                    </a:solidFill>
                  </a:tcPr>
                </a:tc>
                <a:tc>
                  <a:txBody>
                    <a:bodyPr/>
                    <a:lstStyle/>
                    <a:p>
                      <a:r>
                        <a:rPr sz="1650" b="0">
                          <a:solidFill>
                            <a:srgbClr val="101A2E"/>
                          </a:solidFill>
                          <a:latin typeface="Inter"/>
                          <a:ea typeface="Inter"/>
                          <a:cs typeface="Inter"/>
                        </a:rPr>
                        <a:t>5/6</a:t>
                      </a:r>
                    </a:p>
                  </a:txBody>
                  <a:tcPr anchor="ctr">
                    <a:solidFill>
                      <a:srgbClr val="FFFFFF"/>
                    </a:solidFill>
                  </a:tcPr>
                </a:tc>
                <a:tc>
                  <a:txBody>
                    <a:bodyPr/>
                    <a:lstStyle/>
                    <a:p>
                      <a:r>
                        <a:rPr sz="1650" b="0">
                          <a:solidFill>
                            <a:srgbClr val="101A2E"/>
                          </a:solidFill>
                          <a:latin typeface="Inter"/>
                          <a:ea typeface="Inter"/>
                          <a:cs typeface="Inter"/>
                        </a:rPr>
                        <a:t>160.5</a:t>
                      </a:r>
                    </a:p>
                  </a:txBody>
                  <a:tcPr anchor="ctr">
                    <a:solidFill>
                      <a:srgbClr val="FFFFFF"/>
                    </a:solidFill>
                  </a:tcPr>
                </a:tc>
                <a:extLst>
                  <a:ext uri="{0D108BD9-81ED-4DB2-BD59-A6C34878D82A}">
                    <a16:rowId xmlns:a16="http://schemas.microsoft.com/office/drawing/2014/main" val="10004"/>
                  </a:ext>
                </a:extLst>
              </a:tr>
            </a:tbl>
          </a:graphicData>
        </a:graphic>
      </p:graphicFrame>
      <p:sp>
        <p:nvSpPr>
          <p:cNvPr id="7" name="Rectangle 6">
            <a:extLst>
              <a:ext uri="{FF2B5EF4-FFF2-40B4-BE49-F238E27FC236}">
                <a16:creationId xmlns:a16="http://schemas.microsoft.com/office/drawing/2014/main" id="{5C4CBFD1-6506-4A28-9E08-ED1361F0CA01}"/>
              </a:ext>
            </a:extLst>
          </p:cNvPr>
          <p:cNvSpPr>
            <a:spLocks noGrp="1"/>
          </p:cNvSpPr>
          <p:nvPr/>
        </p:nvSpPr>
        <p:spPr>
          <a:xfrm>
            <a:off x="762000" y="4419600"/>
            <a:ext cx="10668000" cy="314325"/>
          </a:xfrm>
          <a:prstGeom prst="rect">
            <a:avLst/>
          </a:prstGeom>
          <a:noFill/>
          <a:ln w="0">
            <a:noFill/>
          </a:ln>
        </p:spPr>
        <p:txBody>
          <a:bodyPr lIns="0" tIns="0" rIns="0" bIns="0" anchor="t">
            <a:noAutofit/>
          </a:bodyPr>
          <a:lstStyle/>
          <a:p>
            <a:pPr algn="l">
              <a:defRPr sz="1350" b="0">
                <a:solidFill>
                  <a:srgbClr val="596C84"/>
                </a:solidFill>
                <a:latin typeface="Inter"/>
                <a:ea typeface="Inter"/>
                <a:cs typeface="Inter"/>
              </a:defRPr>
            </a:pPr>
            <a:r>
              <a:rPr sz="1350" b="0">
                <a:solidFill>
                  <a:srgbClr val="596C84"/>
                </a:solidFill>
                <a:latin typeface="Inter"/>
                <a:ea typeface="Inter"/>
                <a:cs typeface="Inter"/>
              </a:rPr>
              <a:t>55/55 = all expected passages found. 6/6 = no passages returned for all negative cases.</a:t>
            </a:r>
          </a:p>
        </p:txBody>
      </p:sp>
    </p:spTree>
    <p:extLst>
      <p:ext uri="{BB962C8B-B14F-4D97-AF65-F5344CB8AC3E}">
        <p14:creationId xmlns:p14="http://schemas.microsoft.com/office/powerpoint/2010/main" val="14114151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CA3B0FBC-F344-4C53-860C-F08C4D8B061C}"/>
              </a:ext>
            </a:extLst>
          </p:cNvPr>
          <p:cNvSpPr>
            <a:spLocks noGrp="1"/>
          </p:cNvSpPr>
          <p:nvPr/>
        </p:nvSpPr>
        <p:spPr>
          <a:xfrm>
            <a:off x="0" y="0"/>
            <a:ext cx="12192000" cy="57150"/>
          </a:xfrm>
          <a:prstGeom prst="rect">
            <a:avLst/>
          </a:prstGeom>
          <a:solidFill>
            <a:srgbClr val="117D79"/>
          </a:solidFill>
          <a:ln w="0">
            <a:noFill/>
          </a:ln>
        </p:spPr>
        <p:txBody>
          <a:bodyPr/>
          <a:lstStyle/>
          <a:p>
            <a:endParaRPr lang="en-IN"/>
          </a:p>
        </p:txBody>
      </p:sp>
      <p:sp>
        <p:nvSpPr>
          <p:cNvPr id="2" name="Rectangle 1">
            <a:extLst>
              <a:ext uri="{FF2B5EF4-FFF2-40B4-BE49-F238E27FC236}">
                <a16:creationId xmlns:a16="http://schemas.microsoft.com/office/drawing/2014/main" id="{F5F50577-BCD9-4B0C-A8B0-89011FA414D5}"/>
              </a:ext>
            </a:extLst>
          </p:cNvPr>
          <p:cNvSpPr>
            <a:spLocks noGrp="1"/>
          </p:cNvSpPr>
          <p:nvPr/>
        </p:nvSpPr>
        <p:spPr>
          <a:xfrm>
            <a:off x="723900" y="533400"/>
            <a:ext cx="10763250" cy="714375"/>
          </a:xfrm>
          <a:prstGeom prst="rect">
            <a:avLst/>
          </a:prstGeom>
          <a:noFill/>
          <a:ln w="0">
            <a:noFill/>
          </a:ln>
        </p:spPr>
        <p:txBody>
          <a:bodyPr lIns="0" tIns="0" rIns="0" bIns="0" anchor="t">
            <a:noAutofit/>
          </a:bodyPr>
          <a:lstStyle/>
          <a:p>
            <a:pPr algn="l">
              <a:defRPr sz="3150" b="0">
                <a:solidFill>
                  <a:srgbClr val="101A2E"/>
                </a:solidFill>
                <a:latin typeface="Georgia"/>
                <a:ea typeface="Georgia"/>
                <a:cs typeface="Georgia"/>
              </a:defRPr>
            </a:pPr>
            <a:r>
              <a:rPr sz="3150" b="0">
                <a:solidFill>
                  <a:srgbClr val="101A2E"/>
                </a:solidFill>
                <a:latin typeface="Georgia"/>
                <a:ea typeface="Georgia"/>
                <a:cs typeface="Georgia"/>
              </a:rPr>
              <a:t>Implementation Roadmap</a:t>
            </a:r>
          </a:p>
        </p:txBody>
      </p:sp>
      <p:sp>
        <p:nvSpPr>
          <p:cNvPr id="3" name="Rectangle 2">
            <a:extLst>
              <a:ext uri="{FF2B5EF4-FFF2-40B4-BE49-F238E27FC236}">
                <a16:creationId xmlns:a16="http://schemas.microsoft.com/office/drawing/2014/main" id="{E3572EC6-FEE3-491C-B073-3FEE2C91706F}"/>
              </a:ext>
            </a:extLst>
          </p:cNvPr>
          <p:cNvSpPr>
            <a:spLocks noGrp="1"/>
          </p:cNvSpPr>
          <p:nvPr/>
        </p:nvSpPr>
        <p:spPr>
          <a:xfrm>
            <a:off x="742950" y="1343025"/>
            <a:ext cx="10620375" cy="381000"/>
          </a:xfrm>
          <a:prstGeom prst="rect">
            <a:avLst/>
          </a:prstGeom>
          <a:noFill/>
          <a:ln w="0">
            <a:noFill/>
          </a:ln>
        </p:spPr>
        <p:txBody>
          <a:bodyPr lIns="0" tIns="0" rIns="0" bIns="0" anchor="t">
            <a:noAutofit/>
          </a:bodyPr>
          <a:lstStyle/>
          <a:p>
            <a:pPr algn="l">
              <a:defRPr sz="1500" b="0">
                <a:solidFill>
                  <a:srgbClr val="596C84"/>
                </a:solidFill>
                <a:latin typeface="Inter"/>
                <a:ea typeface="Inter"/>
                <a:cs typeface="Inter"/>
              </a:defRPr>
            </a:pPr>
            <a:r>
              <a:rPr sz="1500" b="0">
                <a:solidFill>
                  <a:srgbClr val="596C84"/>
                </a:solidFill>
                <a:latin typeface="Inter"/>
                <a:ea typeface="Inter"/>
                <a:cs typeface="Inter"/>
              </a:rPr>
              <a:t>From a working prototype to an evaluated, repeatable local demonstration</a:t>
            </a:r>
          </a:p>
        </p:txBody>
      </p:sp>
      <p:sp>
        <p:nvSpPr>
          <p:cNvPr id="4" name="Rectangle 3">
            <a:extLst>
              <a:ext uri="{FF2B5EF4-FFF2-40B4-BE49-F238E27FC236}">
                <a16:creationId xmlns:a16="http://schemas.microsoft.com/office/drawing/2014/main" id="{04C2C81B-6BEF-4068-AFC2-0371042E232F}"/>
              </a:ext>
            </a:extLst>
          </p:cNvPr>
          <p:cNvSpPr>
            <a:spLocks noGrp="1"/>
          </p:cNvSpPr>
          <p:nvPr/>
        </p:nvSpPr>
        <p:spPr>
          <a:xfrm>
            <a:off x="742950" y="6410325"/>
            <a:ext cx="9620250" cy="209550"/>
          </a:xfrm>
          <a:prstGeom prst="rect">
            <a:avLst/>
          </a:prstGeom>
          <a:noFill/>
          <a:ln w="0">
            <a:noFill/>
          </a:ln>
        </p:spPr>
        <p:txBody>
          <a:bodyPr lIns="0" tIns="0" rIns="0" bIns="0" anchor="t">
            <a:noAutofit/>
          </a:bodyPr>
          <a:lstStyle/>
          <a:p>
            <a:pPr algn="l">
              <a:defRPr sz="1050" b="0">
                <a:solidFill>
                  <a:srgbClr val="596C84"/>
                </a:solidFill>
                <a:latin typeface="Inter"/>
                <a:ea typeface="Inter"/>
                <a:cs typeface="Inter"/>
              </a:defRPr>
            </a:pPr>
            <a:r>
              <a:rPr sz="1050" b="0">
                <a:solidFill>
                  <a:srgbClr val="596C84"/>
                </a:solidFill>
                <a:latin typeface="Inter"/>
                <a:ea typeface="Inter"/>
                <a:cs typeface="Inter"/>
              </a:rPr>
              <a:t>Payments Guidelines Query Expert   /   Midterm capstone</a:t>
            </a:r>
          </a:p>
        </p:txBody>
      </p:sp>
      <p:sp>
        <p:nvSpPr>
          <p:cNvPr id="5" name="Rectangle 4">
            <a:extLst>
              <a:ext uri="{FF2B5EF4-FFF2-40B4-BE49-F238E27FC236}">
                <a16:creationId xmlns:a16="http://schemas.microsoft.com/office/drawing/2014/main" id="{AA69973D-3E33-4BBE-A129-39C01FB07029}"/>
              </a:ext>
            </a:extLst>
          </p:cNvPr>
          <p:cNvSpPr>
            <a:spLocks noGrp="1"/>
          </p:cNvSpPr>
          <p:nvPr/>
        </p:nvSpPr>
        <p:spPr>
          <a:xfrm>
            <a:off x="11049000" y="6410325"/>
            <a:ext cx="476250" cy="238125"/>
          </a:xfrm>
          <a:prstGeom prst="rect">
            <a:avLst/>
          </a:prstGeom>
          <a:noFill/>
          <a:ln w="0">
            <a:noFill/>
          </a:ln>
        </p:spPr>
        <p:txBody>
          <a:bodyPr lIns="0" tIns="0" rIns="0" bIns="0" anchor="t">
            <a:noAutofit/>
          </a:bodyPr>
          <a:lstStyle/>
          <a:p>
            <a:pPr algn="l">
              <a:defRPr sz="1200" b="1">
                <a:solidFill>
                  <a:srgbClr val="117D79"/>
                </a:solidFill>
                <a:latin typeface="Inter"/>
                <a:ea typeface="Inter"/>
                <a:cs typeface="Inter"/>
              </a:defRPr>
            </a:pPr>
            <a:r>
              <a:rPr sz="1200" b="1">
                <a:solidFill>
                  <a:srgbClr val="117D79"/>
                </a:solidFill>
                <a:latin typeface="Inter"/>
                <a:ea typeface="Inter"/>
                <a:cs typeface="Inter"/>
              </a:rPr>
              <a:t>07</a:t>
            </a:r>
          </a:p>
        </p:txBody>
      </p:sp>
      <p:sp>
        <p:nvSpPr>
          <p:cNvPr id="6" name="Rectangle 5">
            <a:extLst>
              <a:ext uri="{FF2B5EF4-FFF2-40B4-BE49-F238E27FC236}">
                <a16:creationId xmlns:a16="http://schemas.microsoft.com/office/drawing/2014/main" id="{FB97EB41-0A3A-4E40-A0DB-943C88C6AB57}"/>
              </a:ext>
            </a:extLst>
          </p:cNvPr>
          <p:cNvSpPr>
            <a:spLocks noGrp="1"/>
          </p:cNvSpPr>
          <p:nvPr/>
        </p:nvSpPr>
        <p:spPr>
          <a:xfrm>
            <a:off x="762000" y="1933575"/>
            <a:ext cx="10668000" cy="657225"/>
          </a:xfrm>
          <a:prstGeom prst="rect">
            <a:avLst/>
          </a:prstGeom>
          <a:solidFill>
            <a:srgbClr val="F4F7F8"/>
          </a:solidFill>
          <a:ln w="0">
            <a:noFill/>
          </a:ln>
        </p:spPr>
        <p:txBody>
          <a:bodyPr/>
          <a:lstStyle/>
          <a:p>
            <a:endParaRPr lang="en-IN"/>
          </a:p>
        </p:txBody>
      </p:sp>
      <p:sp>
        <p:nvSpPr>
          <p:cNvPr id="7" name="Rectangle 6">
            <a:extLst>
              <a:ext uri="{FF2B5EF4-FFF2-40B4-BE49-F238E27FC236}">
                <a16:creationId xmlns:a16="http://schemas.microsoft.com/office/drawing/2014/main" id="{ED10854F-070B-4BD3-9AC4-8EBDC1757483}"/>
              </a:ext>
            </a:extLst>
          </p:cNvPr>
          <p:cNvSpPr>
            <a:spLocks noGrp="1"/>
          </p:cNvSpPr>
          <p:nvPr/>
        </p:nvSpPr>
        <p:spPr>
          <a:xfrm>
            <a:off x="962025" y="2133600"/>
            <a:ext cx="10287000" cy="333375"/>
          </a:xfrm>
          <a:prstGeom prst="rect">
            <a:avLst/>
          </a:prstGeom>
          <a:noFill/>
          <a:ln w="0">
            <a:noFill/>
          </a:ln>
        </p:spPr>
        <p:txBody>
          <a:bodyPr lIns="0" tIns="0" rIns="0" bIns="0" anchor="t">
            <a:noAutofit/>
          </a:bodyPr>
          <a:lstStyle/>
          <a:p>
            <a:pPr algn="l">
              <a:defRPr sz="1725" b="1">
                <a:solidFill>
                  <a:srgbClr val="101A2E"/>
                </a:solidFill>
                <a:latin typeface="Inter"/>
                <a:ea typeface="Inter"/>
                <a:cs typeface="Inter"/>
              </a:defRPr>
            </a:pPr>
            <a:r>
              <a:rPr sz="1725" b="1">
                <a:solidFill>
                  <a:srgbClr val="101A2E"/>
                </a:solidFill>
                <a:latin typeface="Inter"/>
                <a:ea typeface="Inter"/>
                <a:cs typeface="Inter"/>
              </a:rPr>
              <a:t>NOW  ·  Cited Q&amp;A, source reader, summaries and comparisons implemented</a:t>
            </a:r>
          </a:p>
        </p:txBody>
      </p:sp>
      <p:sp>
        <p:nvSpPr>
          <p:cNvPr id="8" name="Rectangle 7">
            <a:extLst>
              <a:ext uri="{FF2B5EF4-FFF2-40B4-BE49-F238E27FC236}">
                <a16:creationId xmlns:a16="http://schemas.microsoft.com/office/drawing/2014/main" id="{44A444C8-7EEF-47C6-BADC-1B88BC7E44FA}"/>
              </a:ext>
            </a:extLst>
          </p:cNvPr>
          <p:cNvSpPr>
            <a:spLocks noGrp="1"/>
          </p:cNvSpPr>
          <p:nvPr/>
        </p:nvSpPr>
        <p:spPr>
          <a:xfrm>
            <a:off x="762000" y="2847975"/>
            <a:ext cx="3381375" cy="314325"/>
          </a:xfrm>
          <a:prstGeom prst="rect">
            <a:avLst/>
          </a:prstGeom>
          <a:noFill/>
          <a:ln w="0">
            <a:noFill/>
          </a:ln>
        </p:spPr>
        <p:txBody>
          <a:bodyPr lIns="0" tIns="0" rIns="0" bIns="0" anchor="t">
            <a:noAutofit/>
          </a:bodyPr>
          <a:lstStyle/>
          <a:p>
            <a:pPr algn="l">
              <a:defRPr sz="1500" b="1">
                <a:solidFill>
                  <a:srgbClr val="117D79"/>
                </a:solidFill>
                <a:latin typeface="Inter"/>
                <a:ea typeface="Inter"/>
                <a:cs typeface="Inter"/>
              </a:defRPr>
            </a:pPr>
            <a:r>
              <a:rPr sz="1500" b="1">
                <a:solidFill>
                  <a:srgbClr val="117D79"/>
                </a:solidFill>
                <a:latin typeface="Inter"/>
                <a:ea typeface="Inter"/>
                <a:cs typeface="Inter"/>
              </a:rPr>
              <a:t>Weeks 1–2</a:t>
            </a:r>
          </a:p>
        </p:txBody>
      </p:sp>
      <p:sp>
        <p:nvSpPr>
          <p:cNvPr id="9" name="Rectangle 8">
            <a:extLst>
              <a:ext uri="{FF2B5EF4-FFF2-40B4-BE49-F238E27FC236}">
                <a16:creationId xmlns:a16="http://schemas.microsoft.com/office/drawing/2014/main" id="{59FC0C20-7371-432C-9CE6-89A36A110B5A}"/>
              </a:ext>
            </a:extLst>
          </p:cNvPr>
          <p:cNvSpPr>
            <a:spLocks noGrp="1"/>
          </p:cNvSpPr>
          <p:nvPr/>
        </p:nvSpPr>
        <p:spPr>
          <a:xfrm>
            <a:off x="762000" y="3267075"/>
            <a:ext cx="3381375" cy="419100"/>
          </a:xfrm>
          <a:prstGeom prst="rect">
            <a:avLst/>
          </a:prstGeom>
          <a:noFill/>
          <a:ln w="0">
            <a:noFill/>
          </a:ln>
        </p:spPr>
        <p:txBody>
          <a:bodyPr lIns="0" tIns="0" rIns="0" bIns="0" anchor="t">
            <a:noAutofit/>
          </a:bodyPr>
          <a:lstStyle/>
          <a:p>
            <a:pPr algn="l">
              <a:defRPr sz="2100" b="1">
                <a:solidFill>
                  <a:srgbClr val="101A2E"/>
                </a:solidFill>
                <a:latin typeface="Inter"/>
                <a:ea typeface="Inter"/>
                <a:cs typeface="Inter"/>
              </a:defRPr>
            </a:pPr>
            <a:r>
              <a:rPr sz="2100" b="1">
                <a:solidFill>
                  <a:srgbClr val="101A2E"/>
                </a:solidFill>
                <a:latin typeface="Inter"/>
                <a:ea typeface="Inter"/>
                <a:cs typeface="Inter"/>
              </a:rPr>
              <a:t>Validate answers</a:t>
            </a:r>
          </a:p>
        </p:txBody>
      </p:sp>
      <p:sp>
        <p:nvSpPr>
          <p:cNvPr id="10" name="Rectangle 9">
            <a:extLst>
              <a:ext uri="{FF2B5EF4-FFF2-40B4-BE49-F238E27FC236}">
                <a16:creationId xmlns:a16="http://schemas.microsoft.com/office/drawing/2014/main" id="{181AD6E7-CF98-4F81-ACCF-A6176CF1866E}"/>
              </a:ext>
            </a:extLst>
          </p:cNvPr>
          <p:cNvSpPr>
            <a:spLocks noGrp="1"/>
          </p:cNvSpPr>
          <p:nvPr/>
        </p:nvSpPr>
        <p:spPr>
          <a:xfrm>
            <a:off x="762000" y="3914775"/>
            <a:ext cx="3381375" cy="1133475"/>
          </a:xfrm>
          <a:prstGeom prst="rect">
            <a:avLst/>
          </a:prstGeom>
          <a:noFill/>
          <a:ln w="0">
            <a:noFill/>
          </a:ln>
        </p:spPr>
        <p:txBody>
          <a:bodyPr lIns="0" tIns="0" rIns="0" bIns="0" anchor="t">
            <a:noAutofit/>
          </a:bodyPr>
          <a:lstStyle/>
          <a:p>
            <a:pPr algn="l">
              <a:defRPr sz="1650" b="0">
                <a:solidFill>
                  <a:srgbClr val="596C84"/>
                </a:solidFill>
                <a:latin typeface="Inter"/>
                <a:ea typeface="Inter"/>
                <a:cs typeface="Inter"/>
              </a:defRPr>
            </a:pPr>
            <a:r>
              <a:rPr sz="1650" b="0">
                <a:solidFill>
                  <a:srgbClr val="596C84"/>
                </a:solidFill>
                <a:latin typeface="Inter"/>
                <a:ea typeface="Inter"/>
                <a:cs typeface="Inter"/>
              </a:rPr>
              <a:t>Review the 50 cases.</a:t>
            </a:r>
          </a:p>
          <a:p>
            <a:pPr algn="l">
              <a:defRPr sz="1650" b="0">
                <a:solidFill>
                  <a:srgbClr val="596C84"/>
                </a:solidFill>
                <a:latin typeface="Inter"/>
                <a:ea typeface="Inter"/>
                <a:cs typeface="Inter"/>
              </a:defRPr>
            </a:pPr>
            <a:r>
              <a:rPr sz="1650" b="0">
                <a:solidFill>
                  <a:srgbClr val="596C84"/>
                </a:solidFill>
                <a:latin typeface="Inter"/>
                <a:ea typeface="Inter"/>
                <a:cs typeface="Inter"/>
              </a:rPr>
              <a:t>Freeze unseen questions.</a:t>
            </a:r>
          </a:p>
        </p:txBody>
      </p:sp>
      <p:sp>
        <p:nvSpPr>
          <p:cNvPr id="11" name="Rectangle 10">
            <a:extLst>
              <a:ext uri="{FF2B5EF4-FFF2-40B4-BE49-F238E27FC236}">
                <a16:creationId xmlns:a16="http://schemas.microsoft.com/office/drawing/2014/main" id="{3D582B19-0FEF-4935-BB41-D72FF0B2BA9B}"/>
              </a:ext>
            </a:extLst>
          </p:cNvPr>
          <p:cNvSpPr>
            <a:spLocks noGrp="1"/>
          </p:cNvSpPr>
          <p:nvPr/>
        </p:nvSpPr>
        <p:spPr>
          <a:xfrm>
            <a:off x="762000" y="5153025"/>
            <a:ext cx="3381375" cy="238125"/>
          </a:xfrm>
          <a:prstGeom prst="rect">
            <a:avLst/>
          </a:prstGeom>
          <a:noFill/>
          <a:ln w="0">
            <a:noFill/>
          </a:ln>
        </p:spPr>
        <p:txBody>
          <a:bodyPr lIns="0" tIns="0" rIns="0" bIns="0" anchor="t">
            <a:noAutofit/>
          </a:bodyPr>
          <a:lstStyle/>
          <a:p>
            <a:pPr algn="l">
              <a:defRPr sz="1125" b="1">
                <a:solidFill>
                  <a:srgbClr val="117D79"/>
                </a:solidFill>
                <a:latin typeface="Inter"/>
                <a:ea typeface="Inter"/>
                <a:cs typeface="Inter"/>
              </a:defRPr>
            </a:pPr>
            <a:r>
              <a:rPr sz="1125" b="1">
                <a:solidFill>
                  <a:srgbClr val="117D79"/>
                </a:solidFill>
                <a:latin typeface="Inter"/>
                <a:ea typeface="Inter"/>
                <a:cs typeface="Inter"/>
              </a:rPr>
              <a:t>DELIVERABLE</a:t>
            </a:r>
          </a:p>
        </p:txBody>
      </p:sp>
      <p:sp>
        <p:nvSpPr>
          <p:cNvPr id="12" name="Rectangle 11">
            <a:extLst>
              <a:ext uri="{FF2B5EF4-FFF2-40B4-BE49-F238E27FC236}">
                <a16:creationId xmlns:a16="http://schemas.microsoft.com/office/drawing/2014/main" id="{1A8400B5-4CA9-4542-BAED-E8AB5C2307DE}"/>
              </a:ext>
            </a:extLst>
          </p:cNvPr>
          <p:cNvSpPr>
            <a:spLocks noGrp="1"/>
          </p:cNvSpPr>
          <p:nvPr/>
        </p:nvSpPr>
        <p:spPr>
          <a:xfrm>
            <a:off x="762000" y="5457825"/>
            <a:ext cx="3381375" cy="542925"/>
          </a:xfrm>
          <a:prstGeom prst="rect">
            <a:avLst/>
          </a:prstGeom>
          <a:noFill/>
          <a:ln w="0">
            <a:noFill/>
          </a:ln>
        </p:spPr>
        <p:txBody>
          <a:bodyPr lIns="0" tIns="0" rIns="0" bIns="0" anchor="t">
            <a:noAutofit/>
          </a:bodyPr>
          <a:lstStyle/>
          <a:p>
            <a:pPr algn="l">
              <a:defRPr sz="1650" b="0">
                <a:solidFill>
                  <a:srgbClr val="101A2E"/>
                </a:solidFill>
                <a:latin typeface="Inter"/>
                <a:ea typeface="Inter"/>
                <a:cs typeface="Inter"/>
              </a:defRPr>
            </a:pPr>
            <a:r>
              <a:rPr sz="1650" b="0">
                <a:solidFill>
                  <a:srgbClr val="101A2E"/>
                </a:solidFill>
                <a:latin typeface="Inter"/>
                <a:ea typeface="Inter"/>
                <a:cs typeface="Inter"/>
              </a:rPr>
              <a:t>Reviewed test set +</a:t>
            </a:r>
          </a:p>
          <a:p>
            <a:pPr algn="l">
              <a:defRPr sz="1650" b="0">
                <a:solidFill>
                  <a:srgbClr val="101A2E"/>
                </a:solidFill>
                <a:latin typeface="Inter"/>
                <a:ea typeface="Inter"/>
                <a:cs typeface="Inter"/>
              </a:defRPr>
            </a:pPr>
            <a:r>
              <a:rPr sz="1650" b="0">
                <a:solidFill>
                  <a:srgbClr val="101A2E"/>
                </a:solidFill>
                <a:latin typeface="Inter"/>
                <a:ea typeface="Inter"/>
                <a:cs typeface="Inter"/>
              </a:rPr>
              <a:t>answer-quality scorecard</a:t>
            </a:r>
          </a:p>
        </p:txBody>
      </p:sp>
      <p:sp>
        <p:nvSpPr>
          <p:cNvPr id="13" name="Rectangle 12">
            <a:extLst>
              <a:ext uri="{FF2B5EF4-FFF2-40B4-BE49-F238E27FC236}">
                <a16:creationId xmlns:a16="http://schemas.microsoft.com/office/drawing/2014/main" id="{4C33C3E0-A050-45B8-8EE2-72761EEB6058}"/>
              </a:ext>
            </a:extLst>
          </p:cNvPr>
          <p:cNvSpPr>
            <a:spLocks noGrp="1"/>
          </p:cNvSpPr>
          <p:nvPr/>
        </p:nvSpPr>
        <p:spPr>
          <a:xfrm>
            <a:off x="4419600" y="2847975"/>
            <a:ext cx="3381375" cy="314325"/>
          </a:xfrm>
          <a:prstGeom prst="rect">
            <a:avLst/>
          </a:prstGeom>
          <a:noFill/>
          <a:ln w="0">
            <a:noFill/>
          </a:ln>
        </p:spPr>
        <p:txBody>
          <a:bodyPr lIns="0" tIns="0" rIns="0" bIns="0" anchor="t">
            <a:noAutofit/>
          </a:bodyPr>
          <a:lstStyle/>
          <a:p>
            <a:pPr algn="l">
              <a:defRPr sz="1500" b="1">
                <a:solidFill>
                  <a:srgbClr val="117D79"/>
                </a:solidFill>
                <a:latin typeface="Inter"/>
                <a:ea typeface="Inter"/>
                <a:cs typeface="Inter"/>
              </a:defRPr>
            </a:pPr>
            <a:r>
              <a:rPr sz="1500" b="1">
                <a:solidFill>
                  <a:srgbClr val="117D79"/>
                </a:solidFill>
                <a:latin typeface="Inter"/>
                <a:ea typeface="Inter"/>
                <a:cs typeface="Inter"/>
              </a:rPr>
              <a:t>Weeks 3–5</a:t>
            </a:r>
          </a:p>
        </p:txBody>
      </p:sp>
      <p:sp>
        <p:nvSpPr>
          <p:cNvPr id="14" name="Rectangle 13">
            <a:extLst>
              <a:ext uri="{FF2B5EF4-FFF2-40B4-BE49-F238E27FC236}">
                <a16:creationId xmlns:a16="http://schemas.microsoft.com/office/drawing/2014/main" id="{441C048D-AD0C-40D7-A7E3-1CC7E85A82BB}"/>
              </a:ext>
            </a:extLst>
          </p:cNvPr>
          <p:cNvSpPr>
            <a:spLocks noGrp="1"/>
          </p:cNvSpPr>
          <p:nvPr/>
        </p:nvSpPr>
        <p:spPr>
          <a:xfrm>
            <a:off x="4419600" y="3267075"/>
            <a:ext cx="3381375" cy="419100"/>
          </a:xfrm>
          <a:prstGeom prst="rect">
            <a:avLst/>
          </a:prstGeom>
          <a:noFill/>
          <a:ln w="0">
            <a:noFill/>
          </a:ln>
        </p:spPr>
        <p:txBody>
          <a:bodyPr lIns="0" tIns="0" rIns="0" bIns="0" anchor="t">
            <a:noAutofit/>
          </a:bodyPr>
          <a:lstStyle/>
          <a:p>
            <a:pPr algn="l">
              <a:defRPr sz="2100" b="1">
                <a:solidFill>
                  <a:srgbClr val="101A2E"/>
                </a:solidFill>
                <a:latin typeface="Inter"/>
                <a:ea typeface="Inter"/>
                <a:cs typeface="Inter"/>
              </a:defRPr>
            </a:pPr>
            <a:r>
              <a:rPr sz="2100" b="1">
                <a:solidFill>
                  <a:srgbClr val="101A2E"/>
                </a:solidFill>
                <a:latin typeface="Inter"/>
                <a:ea typeface="Inter"/>
                <a:cs typeface="Inter"/>
              </a:rPr>
              <a:t>Improve reliability</a:t>
            </a:r>
          </a:p>
        </p:txBody>
      </p:sp>
      <p:sp>
        <p:nvSpPr>
          <p:cNvPr id="15" name="Rectangle 14">
            <a:extLst>
              <a:ext uri="{FF2B5EF4-FFF2-40B4-BE49-F238E27FC236}">
                <a16:creationId xmlns:a16="http://schemas.microsoft.com/office/drawing/2014/main" id="{7E809207-F55E-40F8-ABBB-8D3638A87BE4}"/>
              </a:ext>
            </a:extLst>
          </p:cNvPr>
          <p:cNvSpPr>
            <a:spLocks noGrp="1"/>
          </p:cNvSpPr>
          <p:nvPr/>
        </p:nvSpPr>
        <p:spPr>
          <a:xfrm>
            <a:off x="4419600" y="3914775"/>
            <a:ext cx="3381375" cy="1133475"/>
          </a:xfrm>
          <a:prstGeom prst="rect">
            <a:avLst/>
          </a:prstGeom>
          <a:noFill/>
          <a:ln w="0">
            <a:noFill/>
          </a:ln>
        </p:spPr>
        <p:txBody>
          <a:bodyPr lIns="0" tIns="0" rIns="0" bIns="0" anchor="t">
            <a:noAutofit/>
          </a:bodyPr>
          <a:lstStyle/>
          <a:p>
            <a:pPr algn="l">
              <a:defRPr sz="1650" b="0">
                <a:solidFill>
                  <a:srgbClr val="596C84"/>
                </a:solidFill>
                <a:latin typeface="Inter"/>
                <a:ea typeface="Inter"/>
                <a:cs typeface="Inter"/>
              </a:defRPr>
            </a:pPr>
            <a:r>
              <a:rPr sz="1650" b="0">
                <a:solidFill>
                  <a:srgbClr val="596C84"/>
                </a:solidFill>
                <a:latin typeface="Inter"/>
                <a:ea typeface="Inter"/>
                <a:cs typeface="Inter"/>
              </a:rPr>
              <a:t>Fix source and answer failures.</a:t>
            </a:r>
          </a:p>
          <a:p>
            <a:pPr algn="l">
              <a:defRPr sz="1650" b="0">
                <a:solidFill>
                  <a:srgbClr val="596C84"/>
                </a:solidFill>
                <a:latin typeface="Inter"/>
                <a:ea typeface="Inter"/>
                <a:cs typeface="Inter"/>
              </a:defRPr>
            </a:pPr>
            <a:r>
              <a:rPr sz="1650" b="0">
                <a:solidFill>
                  <a:srgbClr val="596C84"/>
                </a:solidFill>
                <a:latin typeface="Inter"/>
                <a:ea typeface="Inter"/>
                <a:cs typeface="Inter"/>
              </a:rPr>
              <a:t>Shorten long summaries.</a:t>
            </a:r>
          </a:p>
          <a:p>
            <a:pPr algn="l">
              <a:defRPr sz="1650" b="0">
                <a:solidFill>
                  <a:srgbClr val="596C84"/>
                </a:solidFill>
                <a:latin typeface="Inter"/>
                <a:ea typeface="Inter"/>
                <a:cs typeface="Inter"/>
              </a:defRPr>
            </a:pPr>
            <a:r>
              <a:rPr sz="1650" b="0">
                <a:solidFill>
                  <a:srgbClr val="596C84"/>
                </a:solidFill>
                <a:latin typeface="Inter"/>
                <a:ea typeface="Inter"/>
                <a:cs typeface="Inter"/>
              </a:rPr>
              <a:t>Compare search settings.</a:t>
            </a:r>
          </a:p>
        </p:txBody>
      </p:sp>
      <p:sp>
        <p:nvSpPr>
          <p:cNvPr id="16" name="Rectangle 15">
            <a:extLst>
              <a:ext uri="{FF2B5EF4-FFF2-40B4-BE49-F238E27FC236}">
                <a16:creationId xmlns:a16="http://schemas.microsoft.com/office/drawing/2014/main" id="{25597C2F-234B-4AE2-8A74-D6B8D78761B6}"/>
              </a:ext>
            </a:extLst>
          </p:cNvPr>
          <p:cNvSpPr>
            <a:spLocks noGrp="1"/>
          </p:cNvSpPr>
          <p:nvPr/>
        </p:nvSpPr>
        <p:spPr>
          <a:xfrm>
            <a:off x="4419600" y="5153025"/>
            <a:ext cx="3381375" cy="238125"/>
          </a:xfrm>
          <a:prstGeom prst="rect">
            <a:avLst/>
          </a:prstGeom>
          <a:noFill/>
          <a:ln w="0">
            <a:noFill/>
          </a:ln>
        </p:spPr>
        <p:txBody>
          <a:bodyPr lIns="0" tIns="0" rIns="0" bIns="0" anchor="t">
            <a:noAutofit/>
          </a:bodyPr>
          <a:lstStyle/>
          <a:p>
            <a:pPr algn="l">
              <a:defRPr sz="1125" b="1">
                <a:solidFill>
                  <a:srgbClr val="117D79"/>
                </a:solidFill>
                <a:latin typeface="Inter"/>
                <a:ea typeface="Inter"/>
                <a:cs typeface="Inter"/>
              </a:defRPr>
            </a:pPr>
            <a:r>
              <a:rPr sz="1125" b="1">
                <a:solidFill>
                  <a:srgbClr val="117D79"/>
                </a:solidFill>
                <a:latin typeface="Inter"/>
                <a:ea typeface="Inter"/>
                <a:cs typeface="Inter"/>
              </a:rPr>
              <a:t>DELIVERABLE</a:t>
            </a:r>
          </a:p>
        </p:txBody>
      </p:sp>
      <p:sp>
        <p:nvSpPr>
          <p:cNvPr id="17" name="Rectangle 16">
            <a:extLst>
              <a:ext uri="{FF2B5EF4-FFF2-40B4-BE49-F238E27FC236}">
                <a16:creationId xmlns:a16="http://schemas.microsoft.com/office/drawing/2014/main" id="{4C252FC9-1AD8-49A0-9573-A3FBD19C3FB6}"/>
              </a:ext>
            </a:extLst>
          </p:cNvPr>
          <p:cNvSpPr>
            <a:spLocks noGrp="1"/>
          </p:cNvSpPr>
          <p:nvPr/>
        </p:nvSpPr>
        <p:spPr>
          <a:xfrm>
            <a:off x="4419600" y="5457825"/>
            <a:ext cx="3381375" cy="542925"/>
          </a:xfrm>
          <a:prstGeom prst="rect">
            <a:avLst/>
          </a:prstGeom>
          <a:noFill/>
          <a:ln w="0">
            <a:noFill/>
          </a:ln>
        </p:spPr>
        <p:txBody>
          <a:bodyPr lIns="0" tIns="0" rIns="0" bIns="0" anchor="t">
            <a:noAutofit/>
          </a:bodyPr>
          <a:lstStyle/>
          <a:p>
            <a:pPr algn="l">
              <a:defRPr sz="1650" b="0">
                <a:solidFill>
                  <a:srgbClr val="101A2E"/>
                </a:solidFill>
                <a:latin typeface="Inter"/>
                <a:ea typeface="Inter"/>
                <a:cs typeface="Inter"/>
              </a:defRPr>
            </a:pPr>
            <a:r>
              <a:rPr sz="1650" b="0">
                <a:solidFill>
                  <a:srgbClr val="101A2E"/>
                </a:solidFill>
                <a:latin typeface="Inter"/>
                <a:ea typeface="Inter"/>
                <a:cs typeface="Inter"/>
              </a:rPr>
              <a:t>Tested revision +</a:t>
            </a:r>
          </a:p>
          <a:p>
            <a:pPr algn="l">
              <a:defRPr sz="1650" b="0">
                <a:solidFill>
                  <a:srgbClr val="101A2E"/>
                </a:solidFill>
                <a:latin typeface="Inter"/>
                <a:ea typeface="Inter"/>
                <a:cs typeface="Inter"/>
              </a:defRPr>
            </a:pPr>
            <a:r>
              <a:rPr sz="1650" b="0">
                <a:solidFill>
                  <a:srgbClr val="101A2E"/>
                </a:solidFill>
                <a:latin typeface="Inter"/>
                <a:ea typeface="Inter"/>
                <a:cs typeface="Inter"/>
              </a:rPr>
              <a:t>quality / latency comparison</a:t>
            </a:r>
          </a:p>
        </p:txBody>
      </p:sp>
      <p:sp>
        <p:nvSpPr>
          <p:cNvPr id="18" name="Rectangle 17">
            <a:extLst>
              <a:ext uri="{FF2B5EF4-FFF2-40B4-BE49-F238E27FC236}">
                <a16:creationId xmlns:a16="http://schemas.microsoft.com/office/drawing/2014/main" id="{203F9BDF-BFD6-452A-BD28-C6947CA615A2}"/>
              </a:ext>
            </a:extLst>
          </p:cNvPr>
          <p:cNvSpPr>
            <a:spLocks noGrp="1"/>
          </p:cNvSpPr>
          <p:nvPr/>
        </p:nvSpPr>
        <p:spPr>
          <a:xfrm>
            <a:off x="8077200" y="2847975"/>
            <a:ext cx="3381375" cy="314325"/>
          </a:xfrm>
          <a:prstGeom prst="rect">
            <a:avLst/>
          </a:prstGeom>
          <a:noFill/>
          <a:ln w="0">
            <a:noFill/>
          </a:ln>
        </p:spPr>
        <p:txBody>
          <a:bodyPr lIns="0" tIns="0" rIns="0" bIns="0" anchor="t">
            <a:noAutofit/>
          </a:bodyPr>
          <a:lstStyle/>
          <a:p>
            <a:pPr algn="l">
              <a:defRPr sz="1500" b="1">
                <a:solidFill>
                  <a:srgbClr val="117D79"/>
                </a:solidFill>
                <a:latin typeface="Inter"/>
                <a:ea typeface="Inter"/>
                <a:cs typeface="Inter"/>
              </a:defRPr>
            </a:pPr>
            <a:r>
              <a:rPr sz="1500" b="1">
                <a:solidFill>
                  <a:srgbClr val="117D79"/>
                </a:solidFill>
                <a:latin typeface="Inter"/>
                <a:ea typeface="Inter"/>
                <a:cs typeface="Inter"/>
              </a:rPr>
              <a:t>Weeks 6–8</a:t>
            </a:r>
          </a:p>
        </p:txBody>
      </p:sp>
      <p:sp>
        <p:nvSpPr>
          <p:cNvPr id="19" name="Rectangle 18">
            <a:extLst>
              <a:ext uri="{FF2B5EF4-FFF2-40B4-BE49-F238E27FC236}">
                <a16:creationId xmlns:a16="http://schemas.microsoft.com/office/drawing/2014/main" id="{96F1EB4A-33B6-4627-B6CF-91A7E7A9FE25}"/>
              </a:ext>
            </a:extLst>
          </p:cNvPr>
          <p:cNvSpPr>
            <a:spLocks noGrp="1"/>
          </p:cNvSpPr>
          <p:nvPr/>
        </p:nvSpPr>
        <p:spPr>
          <a:xfrm>
            <a:off x="8077200" y="3267075"/>
            <a:ext cx="3381375" cy="419100"/>
          </a:xfrm>
          <a:prstGeom prst="rect">
            <a:avLst/>
          </a:prstGeom>
          <a:noFill/>
          <a:ln w="0">
            <a:noFill/>
          </a:ln>
        </p:spPr>
        <p:txBody>
          <a:bodyPr lIns="0" tIns="0" rIns="0" bIns="0" anchor="t">
            <a:noAutofit/>
          </a:bodyPr>
          <a:lstStyle/>
          <a:p>
            <a:pPr algn="l">
              <a:defRPr sz="2100" b="1">
                <a:solidFill>
                  <a:srgbClr val="101A2E"/>
                </a:solidFill>
                <a:latin typeface="Inter"/>
                <a:ea typeface="Inter"/>
                <a:cs typeface="Inter"/>
              </a:defRPr>
            </a:pPr>
            <a:r>
              <a:rPr sz="2100" b="1">
                <a:solidFill>
                  <a:srgbClr val="101A2E"/>
                </a:solidFill>
                <a:latin typeface="Inter"/>
                <a:ea typeface="Inter"/>
                <a:cs typeface="Inter"/>
              </a:rPr>
              <a:t>Test with users</a:t>
            </a:r>
          </a:p>
        </p:txBody>
      </p:sp>
      <p:sp>
        <p:nvSpPr>
          <p:cNvPr id="20" name="Rectangle 19">
            <a:extLst>
              <a:ext uri="{FF2B5EF4-FFF2-40B4-BE49-F238E27FC236}">
                <a16:creationId xmlns:a16="http://schemas.microsoft.com/office/drawing/2014/main" id="{FC0CAEE4-A9E6-472A-B28D-9FFBAAAC764A}"/>
              </a:ext>
            </a:extLst>
          </p:cNvPr>
          <p:cNvSpPr>
            <a:spLocks noGrp="1"/>
          </p:cNvSpPr>
          <p:nvPr/>
        </p:nvSpPr>
        <p:spPr>
          <a:xfrm>
            <a:off x="8077200" y="3914775"/>
            <a:ext cx="3381375" cy="1133475"/>
          </a:xfrm>
          <a:prstGeom prst="rect">
            <a:avLst/>
          </a:prstGeom>
          <a:noFill/>
          <a:ln w="0">
            <a:noFill/>
          </a:ln>
        </p:spPr>
        <p:txBody>
          <a:bodyPr lIns="0" tIns="0" rIns="0" bIns="0" anchor="t">
            <a:noAutofit/>
          </a:bodyPr>
          <a:lstStyle/>
          <a:p>
            <a:pPr algn="l">
              <a:defRPr sz="1650" b="0">
                <a:solidFill>
                  <a:srgbClr val="596C84"/>
                </a:solidFill>
                <a:latin typeface="Inter"/>
                <a:ea typeface="Inter"/>
                <a:cs typeface="Inter"/>
              </a:defRPr>
            </a:pPr>
            <a:r>
              <a:rPr sz="1650" b="0">
                <a:solidFill>
                  <a:srgbClr val="596C84"/>
                </a:solidFill>
                <a:latin typeface="Inter"/>
                <a:ea typeface="Inter"/>
                <a:cs typeface="Inter"/>
              </a:rPr>
              <a:t>Observe research tasks.</a:t>
            </a:r>
          </a:p>
          <a:p>
            <a:pPr algn="l">
              <a:defRPr sz="1650" b="0">
                <a:solidFill>
                  <a:srgbClr val="596C84"/>
                </a:solidFill>
                <a:latin typeface="Inter"/>
                <a:ea typeface="Inter"/>
                <a:cs typeface="Inter"/>
              </a:defRPr>
            </a:pPr>
            <a:r>
              <a:rPr sz="1650" b="0">
                <a:solidFill>
                  <a:srgbClr val="596C84"/>
                </a:solidFill>
                <a:latin typeface="Inter"/>
                <a:ea typeface="Inter"/>
                <a:cs typeface="Inter"/>
              </a:rPr>
              <a:t>Package setup and final demo.</a:t>
            </a:r>
          </a:p>
        </p:txBody>
      </p:sp>
      <p:sp>
        <p:nvSpPr>
          <p:cNvPr id="21" name="Rectangle 20">
            <a:extLst>
              <a:ext uri="{FF2B5EF4-FFF2-40B4-BE49-F238E27FC236}">
                <a16:creationId xmlns:a16="http://schemas.microsoft.com/office/drawing/2014/main" id="{CFFDCF4F-63D4-42B0-A92A-488E1233BF26}"/>
              </a:ext>
            </a:extLst>
          </p:cNvPr>
          <p:cNvSpPr>
            <a:spLocks noGrp="1"/>
          </p:cNvSpPr>
          <p:nvPr/>
        </p:nvSpPr>
        <p:spPr>
          <a:xfrm>
            <a:off x="8077200" y="5153025"/>
            <a:ext cx="3381375" cy="238125"/>
          </a:xfrm>
          <a:prstGeom prst="rect">
            <a:avLst/>
          </a:prstGeom>
          <a:noFill/>
          <a:ln w="0">
            <a:noFill/>
          </a:ln>
        </p:spPr>
        <p:txBody>
          <a:bodyPr lIns="0" tIns="0" rIns="0" bIns="0" anchor="t">
            <a:noAutofit/>
          </a:bodyPr>
          <a:lstStyle/>
          <a:p>
            <a:pPr algn="l">
              <a:defRPr sz="1125" b="1">
                <a:solidFill>
                  <a:srgbClr val="117D79"/>
                </a:solidFill>
                <a:latin typeface="Inter"/>
                <a:ea typeface="Inter"/>
                <a:cs typeface="Inter"/>
              </a:defRPr>
            </a:pPr>
            <a:r>
              <a:rPr sz="1125" b="1">
                <a:solidFill>
                  <a:srgbClr val="117D79"/>
                </a:solidFill>
                <a:latin typeface="Inter"/>
                <a:ea typeface="Inter"/>
                <a:cs typeface="Inter"/>
              </a:rPr>
              <a:t>DELIVERABLE</a:t>
            </a:r>
          </a:p>
        </p:txBody>
      </p:sp>
      <p:sp>
        <p:nvSpPr>
          <p:cNvPr id="22" name="Rectangle 21">
            <a:extLst>
              <a:ext uri="{FF2B5EF4-FFF2-40B4-BE49-F238E27FC236}">
                <a16:creationId xmlns:a16="http://schemas.microsoft.com/office/drawing/2014/main" id="{CCDF802B-FE84-4C3B-A8E0-99CBE807A7FF}"/>
              </a:ext>
            </a:extLst>
          </p:cNvPr>
          <p:cNvSpPr>
            <a:spLocks noGrp="1"/>
          </p:cNvSpPr>
          <p:nvPr/>
        </p:nvSpPr>
        <p:spPr>
          <a:xfrm>
            <a:off x="8077200" y="5457825"/>
            <a:ext cx="3381375" cy="542925"/>
          </a:xfrm>
          <a:prstGeom prst="rect">
            <a:avLst/>
          </a:prstGeom>
          <a:noFill/>
          <a:ln w="0">
            <a:noFill/>
          </a:ln>
        </p:spPr>
        <p:txBody>
          <a:bodyPr lIns="0" tIns="0" rIns="0" bIns="0" anchor="t">
            <a:noAutofit/>
          </a:bodyPr>
          <a:lstStyle/>
          <a:p>
            <a:pPr algn="l">
              <a:defRPr sz="1650" b="0">
                <a:solidFill>
                  <a:srgbClr val="101A2E"/>
                </a:solidFill>
                <a:latin typeface="Inter"/>
                <a:ea typeface="Inter"/>
                <a:cs typeface="Inter"/>
              </a:defRPr>
            </a:pPr>
            <a:r>
              <a:rPr sz="1650" b="0">
                <a:solidFill>
                  <a:srgbClr val="101A2E"/>
                </a:solidFill>
                <a:latin typeface="Inter"/>
                <a:ea typeface="Inter"/>
                <a:cs typeface="Inter"/>
              </a:rPr>
              <a:t>User-task results +</a:t>
            </a:r>
          </a:p>
          <a:p>
            <a:pPr algn="l">
              <a:defRPr sz="1650" b="0">
                <a:solidFill>
                  <a:srgbClr val="101A2E"/>
                </a:solidFill>
                <a:latin typeface="Inter"/>
                <a:ea typeface="Inter"/>
                <a:cs typeface="Inter"/>
              </a:defRPr>
            </a:pPr>
            <a:r>
              <a:rPr sz="1650" b="0">
                <a:solidFill>
                  <a:srgbClr val="101A2E"/>
                </a:solidFill>
                <a:latin typeface="Inter"/>
                <a:ea typeface="Inter"/>
                <a:cs typeface="Inter"/>
              </a:rPr>
              <a:t>repeatable demonstration</a:t>
            </a:r>
          </a:p>
        </p:txBody>
      </p:sp>
      <p:sp>
        <p:nvSpPr>
          <p:cNvPr id="23" name="Rectangle 22">
            <a:extLst>
              <a:ext uri="{FF2B5EF4-FFF2-40B4-BE49-F238E27FC236}">
                <a16:creationId xmlns:a16="http://schemas.microsoft.com/office/drawing/2014/main" id="{79E9754B-F67E-46D3-BF47-1A3C5BE8709B}"/>
              </a:ext>
            </a:extLst>
          </p:cNvPr>
          <p:cNvSpPr>
            <a:spLocks noGrp="1"/>
          </p:cNvSpPr>
          <p:nvPr/>
        </p:nvSpPr>
        <p:spPr>
          <a:xfrm>
            <a:off x="762000" y="6134100"/>
            <a:ext cx="10668000" cy="238125"/>
          </a:xfrm>
          <a:prstGeom prst="rect">
            <a:avLst/>
          </a:prstGeom>
          <a:noFill/>
          <a:ln w="0">
            <a:noFill/>
          </a:ln>
        </p:spPr>
        <p:txBody>
          <a:bodyPr lIns="0" tIns="0" rIns="0" bIns="0" anchor="t">
            <a:noAutofit/>
          </a:bodyPr>
          <a:lstStyle/>
          <a:p>
            <a:pPr algn="l">
              <a:defRPr sz="1125" b="0">
                <a:solidFill>
                  <a:srgbClr val="596C84"/>
                </a:solidFill>
                <a:latin typeface="Inter"/>
                <a:ea typeface="Inter"/>
                <a:cs typeface="Inter"/>
              </a:defRPr>
            </a:pPr>
            <a:r>
              <a:rPr sz="1125" b="0">
                <a:solidFill>
                  <a:srgbClr val="596C84"/>
                </a:solidFill>
                <a:latin typeface="Inter"/>
                <a:ea typeface="Inter"/>
                <a:cs typeface="Inter"/>
              </a:rPr>
              <a:t>Indicative weeks after midterm; reviewer access is a dependency. Another payments source is an optional later extension.</a:t>
            </a:r>
          </a:p>
        </p:txBody>
      </p:sp>
    </p:spTree>
    <p:extLst>
      <p:ext uri="{BB962C8B-B14F-4D97-AF65-F5344CB8AC3E}">
        <p14:creationId xmlns:p14="http://schemas.microsoft.com/office/powerpoint/2010/main" val="20391024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434D2584-897A-4E56-B841-E357CB63A9D2}"/>
              </a:ext>
            </a:extLst>
          </p:cNvPr>
          <p:cNvSpPr>
            <a:spLocks noGrp="1"/>
          </p:cNvSpPr>
          <p:nvPr/>
        </p:nvSpPr>
        <p:spPr>
          <a:xfrm>
            <a:off x="0" y="0"/>
            <a:ext cx="12192000" cy="57150"/>
          </a:xfrm>
          <a:prstGeom prst="rect">
            <a:avLst/>
          </a:prstGeom>
          <a:solidFill>
            <a:srgbClr val="117D79"/>
          </a:solidFill>
          <a:ln w="0">
            <a:noFill/>
          </a:ln>
        </p:spPr>
        <p:txBody>
          <a:bodyPr/>
          <a:lstStyle/>
          <a:p>
            <a:endParaRPr lang="en-IN"/>
          </a:p>
        </p:txBody>
      </p:sp>
      <p:sp>
        <p:nvSpPr>
          <p:cNvPr id="2" name="Rectangle 1">
            <a:extLst>
              <a:ext uri="{FF2B5EF4-FFF2-40B4-BE49-F238E27FC236}">
                <a16:creationId xmlns:a16="http://schemas.microsoft.com/office/drawing/2014/main" id="{76B3F619-9C78-411A-B3F3-D72442445112}"/>
              </a:ext>
            </a:extLst>
          </p:cNvPr>
          <p:cNvSpPr>
            <a:spLocks noGrp="1"/>
          </p:cNvSpPr>
          <p:nvPr/>
        </p:nvSpPr>
        <p:spPr>
          <a:xfrm>
            <a:off x="723900" y="533400"/>
            <a:ext cx="10763250" cy="714375"/>
          </a:xfrm>
          <a:prstGeom prst="rect">
            <a:avLst/>
          </a:prstGeom>
          <a:noFill/>
          <a:ln w="0">
            <a:noFill/>
          </a:ln>
        </p:spPr>
        <p:txBody>
          <a:bodyPr lIns="0" tIns="0" rIns="0" bIns="0" anchor="t">
            <a:noAutofit/>
          </a:bodyPr>
          <a:lstStyle/>
          <a:p>
            <a:pPr algn="l">
              <a:defRPr sz="3150" b="0">
                <a:solidFill>
                  <a:srgbClr val="101A2E"/>
                </a:solidFill>
                <a:latin typeface="Georgia"/>
                <a:ea typeface="Georgia"/>
                <a:cs typeface="Georgia"/>
              </a:defRPr>
            </a:pPr>
            <a:r>
              <a:rPr sz="3150" b="0">
                <a:solidFill>
                  <a:srgbClr val="101A2E"/>
                </a:solidFill>
                <a:latin typeface="Georgia"/>
                <a:ea typeface="Georgia"/>
                <a:cs typeface="Georgia"/>
              </a:rPr>
              <a:t>Discussion and Feedback</a:t>
            </a:r>
          </a:p>
        </p:txBody>
      </p:sp>
      <p:sp>
        <p:nvSpPr>
          <p:cNvPr id="3" name="Rectangle 2">
            <a:extLst>
              <a:ext uri="{FF2B5EF4-FFF2-40B4-BE49-F238E27FC236}">
                <a16:creationId xmlns:a16="http://schemas.microsoft.com/office/drawing/2014/main" id="{C3B73825-7E0D-4DC4-B4B4-A4FA10F9A482}"/>
              </a:ext>
            </a:extLst>
          </p:cNvPr>
          <p:cNvSpPr>
            <a:spLocks noGrp="1"/>
          </p:cNvSpPr>
          <p:nvPr/>
        </p:nvSpPr>
        <p:spPr>
          <a:xfrm>
            <a:off x="742950" y="1343025"/>
            <a:ext cx="10620375" cy="381000"/>
          </a:xfrm>
          <a:prstGeom prst="rect">
            <a:avLst/>
          </a:prstGeom>
          <a:noFill/>
          <a:ln w="0">
            <a:noFill/>
          </a:ln>
        </p:spPr>
        <p:txBody>
          <a:bodyPr lIns="0" tIns="0" rIns="0" bIns="0" anchor="t">
            <a:noAutofit/>
          </a:bodyPr>
          <a:lstStyle/>
          <a:p>
            <a:pPr algn="l">
              <a:defRPr sz="1500" b="0">
                <a:solidFill>
                  <a:srgbClr val="596C84"/>
                </a:solidFill>
                <a:latin typeface="Inter"/>
                <a:ea typeface="Inter"/>
                <a:cs typeface="Inter"/>
              </a:defRPr>
            </a:pPr>
            <a:r>
              <a:rPr sz="1500" b="0">
                <a:solidFill>
                  <a:srgbClr val="596C84"/>
                </a:solidFill>
                <a:latin typeface="Inter"/>
                <a:ea typeface="Inter"/>
                <a:cs typeface="Inter"/>
              </a:rPr>
              <a:t>Feedback requested on the next stage of this capstone</a:t>
            </a:r>
          </a:p>
        </p:txBody>
      </p:sp>
      <p:sp>
        <p:nvSpPr>
          <p:cNvPr id="4" name="Rectangle 3">
            <a:extLst>
              <a:ext uri="{FF2B5EF4-FFF2-40B4-BE49-F238E27FC236}">
                <a16:creationId xmlns:a16="http://schemas.microsoft.com/office/drawing/2014/main" id="{4E1C51F8-9F91-4DCC-9B9A-3B66E1B3A873}"/>
              </a:ext>
            </a:extLst>
          </p:cNvPr>
          <p:cNvSpPr>
            <a:spLocks noGrp="1"/>
          </p:cNvSpPr>
          <p:nvPr/>
        </p:nvSpPr>
        <p:spPr>
          <a:xfrm>
            <a:off x="742950" y="6410325"/>
            <a:ext cx="9620250" cy="209550"/>
          </a:xfrm>
          <a:prstGeom prst="rect">
            <a:avLst/>
          </a:prstGeom>
          <a:noFill/>
          <a:ln w="0">
            <a:noFill/>
          </a:ln>
        </p:spPr>
        <p:txBody>
          <a:bodyPr lIns="0" tIns="0" rIns="0" bIns="0" anchor="t">
            <a:noAutofit/>
          </a:bodyPr>
          <a:lstStyle/>
          <a:p>
            <a:pPr algn="l">
              <a:defRPr sz="1050" b="0">
                <a:solidFill>
                  <a:srgbClr val="596C84"/>
                </a:solidFill>
                <a:latin typeface="Inter"/>
                <a:ea typeface="Inter"/>
                <a:cs typeface="Inter"/>
              </a:defRPr>
            </a:pPr>
            <a:r>
              <a:rPr sz="1050" b="0">
                <a:solidFill>
                  <a:srgbClr val="596C84"/>
                </a:solidFill>
                <a:latin typeface="Inter"/>
                <a:ea typeface="Inter"/>
                <a:cs typeface="Inter"/>
              </a:rPr>
              <a:t>Payments Guidelines Query Expert   /   Midterm capstone</a:t>
            </a:r>
          </a:p>
        </p:txBody>
      </p:sp>
      <p:sp>
        <p:nvSpPr>
          <p:cNvPr id="5" name="Rectangle 4">
            <a:extLst>
              <a:ext uri="{FF2B5EF4-FFF2-40B4-BE49-F238E27FC236}">
                <a16:creationId xmlns:a16="http://schemas.microsoft.com/office/drawing/2014/main" id="{2A6146A5-FCEB-4346-94E3-4CE9352FE5EA}"/>
              </a:ext>
            </a:extLst>
          </p:cNvPr>
          <p:cNvSpPr>
            <a:spLocks noGrp="1"/>
          </p:cNvSpPr>
          <p:nvPr/>
        </p:nvSpPr>
        <p:spPr>
          <a:xfrm>
            <a:off x="11049000" y="6410325"/>
            <a:ext cx="476250" cy="238125"/>
          </a:xfrm>
          <a:prstGeom prst="rect">
            <a:avLst/>
          </a:prstGeom>
          <a:noFill/>
          <a:ln w="0">
            <a:noFill/>
          </a:ln>
        </p:spPr>
        <p:txBody>
          <a:bodyPr lIns="0" tIns="0" rIns="0" bIns="0" anchor="t">
            <a:noAutofit/>
          </a:bodyPr>
          <a:lstStyle/>
          <a:p>
            <a:pPr algn="l">
              <a:defRPr sz="1200" b="1">
                <a:solidFill>
                  <a:srgbClr val="117D79"/>
                </a:solidFill>
                <a:latin typeface="Inter"/>
                <a:ea typeface="Inter"/>
                <a:cs typeface="Inter"/>
              </a:defRPr>
            </a:pPr>
            <a:r>
              <a:rPr sz="1200" b="1">
                <a:solidFill>
                  <a:srgbClr val="117D79"/>
                </a:solidFill>
                <a:latin typeface="Inter"/>
                <a:ea typeface="Inter"/>
                <a:cs typeface="Inter"/>
              </a:rPr>
              <a:t>08</a:t>
            </a:r>
          </a:p>
        </p:txBody>
      </p:sp>
      <p:sp>
        <p:nvSpPr>
          <p:cNvPr id="6" name="Rectangle 5">
            <a:extLst>
              <a:ext uri="{FF2B5EF4-FFF2-40B4-BE49-F238E27FC236}">
                <a16:creationId xmlns:a16="http://schemas.microsoft.com/office/drawing/2014/main" id="{A5D0CCF9-38F3-4837-A5AB-C5C6B9B473DC}"/>
              </a:ext>
            </a:extLst>
          </p:cNvPr>
          <p:cNvSpPr>
            <a:spLocks noGrp="1"/>
          </p:cNvSpPr>
          <p:nvPr/>
        </p:nvSpPr>
        <p:spPr>
          <a:xfrm>
            <a:off x="762000" y="2076450"/>
            <a:ext cx="666750" cy="457200"/>
          </a:xfrm>
          <a:prstGeom prst="rect">
            <a:avLst/>
          </a:prstGeom>
          <a:noFill/>
          <a:ln w="0">
            <a:noFill/>
          </a:ln>
        </p:spPr>
        <p:txBody>
          <a:bodyPr lIns="0" tIns="0" rIns="0" bIns="0" anchor="t">
            <a:noAutofit/>
          </a:bodyPr>
          <a:lstStyle/>
          <a:p>
            <a:pPr algn="l">
              <a:defRPr sz="2475" b="1">
                <a:solidFill>
                  <a:srgbClr val="117D79"/>
                </a:solidFill>
                <a:latin typeface="Inter"/>
                <a:ea typeface="Inter"/>
                <a:cs typeface="Inter"/>
              </a:defRPr>
            </a:pPr>
            <a:r>
              <a:rPr sz="2475" b="1">
                <a:solidFill>
                  <a:srgbClr val="117D79"/>
                </a:solidFill>
                <a:latin typeface="Inter"/>
                <a:ea typeface="Inter"/>
                <a:cs typeface="Inter"/>
              </a:rPr>
              <a:t>01</a:t>
            </a:r>
          </a:p>
        </p:txBody>
      </p:sp>
      <p:sp>
        <p:nvSpPr>
          <p:cNvPr id="7" name="Rectangle 6">
            <a:extLst>
              <a:ext uri="{FF2B5EF4-FFF2-40B4-BE49-F238E27FC236}">
                <a16:creationId xmlns:a16="http://schemas.microsoft.com/office/drawing/2014/main" id="{AAEF0C57-8395-4F77-9846-BDAE254416E7}"/>
              </a:ext>
            </a:extLst>
          </p:cNvPr>
          <p:cNvSpPr>
            <a:spLocks noGrp="1"/>
          </p:cNvSpPr>
          <p:nvPr/>
        </p:nvSpPr>
        <p:spPr>
          <a:xfrm>
            <a:off x="1638300" y="2076450"/>
            <a:ext cx="9715500" cy="381000"/>
          </a:xfrm>
          <a:prstGeom prst="rect">
            <a:avLst/>
          </a:prstGeom>
          <a:noFill/>
          <a:ln w="0">
            <a:noFill/>
          </a:ln>
        </p:spPr>
        <p:txBody>
          <a:bodyPr lIns="0" tIns="0" rIns="0" bIns="0" anchor="t">
            <a:noAutofit/>
          </a:bodyPr>
          <a:lstStyle/>
          <a:p>
            <a:pPr algn="l">
              <a:defRPr sz="2100" b="1">
                <a:solidFill>
                  <a:srgbClr val="101A2E"/>
                </a:solidFill>
                <a:latin typeface="Inter"/>
                <a:ea typeface="Inter"/>
                <a:cs typeface="Inter"/>
              </a:defRPr>
            </a:pPr>
            <a:r>
              <a:rPr sz="2100" b="1">
                <a:solidFill>
                  <a:srgbClr val="101A2E"/>
                </a:solidFill>
                <a:latin typeface="Inter"/>
                <a:ea typeface="Inter"/>
                <a:cs typeface="Inter"/>
              </a:rPr>
              <a:t>Scope</a:t>
            </a:r>
          </a:p>
        </p:txBody>
      </p:sp>
      <p:sp>
        <p:nvSpPr>
          <p:cNvPr id="8" name="Rectangle 7">
            <a:extLst>
              <a:ext uri="{FF2B5EF4-FFF2-40B4-BE49-F238E27FC236}">
                <a16:creationId xmlns:a16="http://schemas.microsoft.com/office/drawing/2014/main" id="{14C2ED88-0BC8-483E-9904-D3C176BE2CB2}"/>
              </a:ext>
            </a:extLst>
          </p:cNvPr>
          <p:cNvSpPr>
            <a:spLocks noGrp="1"/>
          </p:cNvSpPr>
          <p:nvPr/>
        </p:nvSpPr>
        <p:spPr>
          <a:xfrm>
            <a:off x="1638300" y="2552700"/>
            <a:ext cx="9525000" cy="561975"/>
          </a:xfrm>
          <a:prstGeom prst="rect">
            <a:avLst/>
          </a:prstGeom>
          <a:noFill/>
          <a:ln w="0">
            <a:noFill/>
          </a:ln>
        </p:spPr>
        <p:txBody>
          <a:bodyPr lIns="0" tIns="0" rIns="0" bIns="0" anchor="t">
            <a:noAutofit/>
          </a:bodyPr>
          <a:lstStyle/>
          <a:p>
            <a:pPr algn="l">
              <a:defRPr sz="1800" b="0">
                <a:solidFill>
                  <a:srgbClr val="596C84"/>
                </a:solidFill>
                <a:latin typeface="Inter"/>
                <a:ea typeface="Inter"/>
                <a:cs typeface="Inter"/>
              </a:defRPr>
            </a:pPr>
            <a:r>
              <a:rPr sz="1800" b="0">
                <a:solidFill>
                  <a:srgbClr val="596C84"/>
                </a:solidFill>
                <a:latin typeface="Inter"/>
                <a:ea typeface="Inter"/>
                <a:cs typeface="Inter"/>
              </a:rPr>
              <a:t>Is the question-to-source workflow useful and manageable?</a:t>
            </a:r>
          </a:p>
        </p:txBody>
      </p:sp>
      <p:sp>
        <p:nvSpPr>
          <p:cNvPr id="9" name="Rectangle 8">
            <a:extLst>
              <a:ext uri="{FF2B5EF4-FFF2-40B4-BE49-F238E27FC236}">
                <a16:creationId xmlns:a16="http://schemas.microsoft.com/office/drawing/2014/main" id="{0148DF4A-F390-4EF8-98B2-B30DF769EE0E}"/>
              </a:ext>
            </a:extLst>
          </p:cNvPr>
          <p:cNvSpPr>
            <a:spLocks noGrp="1"/>
          </p:cNvSpPr>
          <p:nvPr/>
        </p:nvSpPr>
        <p:spPr>
          <a:xfrm>
            <a:off x="762000" y="3381375"/>
            <a:ext cx="666750" cy="457200"/>
          </a:xfrm>
          <a:prstGeom prst="rect">
            <a:avLst/>
          </a:prstGeom>
          <a:noFill/>
          <a:ln w="0">
            <a:noFill/>
          </a:ln>
        </p:spPr>
        <p:txBody>
          <a:bodyPr lIns="0" tIns="0" rIns="0" bIns="0" anchor="t">
            <a:noAutofit/>
          </a:bodyPr>
          <a:lstStyle/>
          <a:p>
            <a:pPr algn="l">
              <a:defRPr sz="2475" b="1">
                <a:solidFill>
                  <a:srgbClr val="117D79"/>
                </a:solidFill>
                <a:latin typeface="Inter"/>
                <a:ea typeface="Inter"/>
                <a:cs typeface="Inter"/>
              </a:defRPr>
            </a:pPr>
            <a:r>
              <a:rPr sz="2475" b="1">
                <a:solidFill>
                  <a:srgbClr val="117D79"/>
                </a:solidFill>
                <a:latin typeface="Inter"/>
                <a:ea typeface="Inter"/>
                <a:cs typeface="Inter"/>
              </a:rPr>
              <a:t>02</a:t>
            </a:r>
          </a:p>
        </p:txBody>
      </p:sp>
      <p:sp>
        <p:nvSpPr>
          <p:cNvPr id="10" name="Rectangle 9">
            <a:extLst>
              <a:ext uri="{FF2B5EF4-FFF2-40B4-BE49-F238E27FC236}">
                <a16:creationId xmlns:a16="http://schemas.microsoft.com/office/drawing/2014/main" id="{E22209B9-1645-4DA6-9D92-2BDBEB23D0CF}"/>
              </a:ext>
            </a:extLst>
          </p:cNvPr>
          <p:cNvSpPr>
            <a:spLocks noGrp="1"/>
          </p:cNvSpPr>
          <p:nvPr/>
        </p:nvSpPr>
        <p:spPr>
          <a:xfrm>
            <a:off x="1638300" y="3381375"/>
            <a:ext cx="9715500" cy="381000"/>
          </a:xfrm>
          <a:prstGeom prst="rect">
            <a:avLst/>
          </a:prstGeom>
          <a:noFill/>
          <a:ln w="0">
            <a:noFill/>
          </a:ln>
        </p:spPr>
        <p:txBody>
          <a:bodyPr lIns="0" tIns="0" rIns="0" bIns="0" anchor="t">
            <a:noAutofit/>
          </a:bodyPr>
          <a:lstStyle/>
          <a:p>
            <a:pPr algn="l">
              <a:defRPr sz="2100" b="1">
                <a:solidFill>
                  <a:srgbClr val="101A2E"/>
                </a:solidFill>
                <a:latin typeface="Inter"/>
                <a:ea typeface="Inter"/>
                <a:cs typeface="Inter"/>
              </a:defRPr>
            </a:pPr>
            <a:r>
              <a:rPr sz="2100" b="1">
                <a:solidFill>
                  <a:srgbClr val="101A2E"/>
                </a:solidFill>
                <a:latin typeface="Inter"/>
                <a:ea typeface="Inter"/>
                <a:cs typeface="Inter"/>
              </a:rPr>
              <a:t>Evaluation</a:t>
            </a:r>
          </a:p>
        </p:txBody>
      </p:sp>
      <p:sp>
        <p:nvSpPr>
          <p:cNvPr id="11" name="Rectangle 10">
            <a:extLst>
              <a:ext uri="{FF2B5EF4-FFF2-40B4-BE49-F238E27FC236}">
                <a16:creationId xmlns:a16="http://schemas.microsoft.com/office/drawing/2014/main" id="{B50D1FE5-28BC-4D56-AFA7-05BBC08965AB}"/>
              </a:ext>
            </a:extLst>
          </p:cNvPr>
          <p:cNvSpPr>
            <a:spLocks noGrp="1"/>
          </p:cNvSpPr>
          <p:nvPr/>
        </p:nvSpPr>
        <p:spPr>
          <a:xfrm>
            <a:off x="1638300" y="3857625"/>
            <a:ext cx="9525000" cy="561975"/>
          </a:xfrm>
          <a:prstGeom prst="rect">
            <a:avLst/>
          </a:prstGeom>
          <a:noFill/>
          <a:ln w="0">
            <a:noFill/>
          </a:ln>
        </p:spPr>
        <p:txBody>
          <a:bodyPr lIns="0" tIns="0" rIns="0" bIns="0" anchor="t">
            <a:noAutofit/>
          </a:bodyPr>
          <a:lstStyle/>
          <a:p>
            <a:pPr algn="l">
              <a:defRPr sz="1800" b="0">
                <a:solidFill>
                  <a:srgbClr val="596C84"/>
                </a:solidFill>
                <a:latin typeface="Inter"/>
                <a:ea typeface="Inter"/>
                <a:cs typeface="Inter"/>
              </a:defRPr>
            </a:pPr>
            <a:r>
              <a:rPr sz="1800" b="0">
                <a:solidFill>
                  <a:srgbClr val="596C84"/>
                </a:solidFill>
                <a:latin typeface="Inter"/>
                <a:ea typeface="Inter"/>
                <a:cs typeface="Inter"/>
              </a:rPr>
              <a:t>Which multi-document and missing-evidence cases should come first?</a:t>
            </a:r>
          </a:p>
        </p:txBody>
      </p:sp>
      <p:sp>
        <p:nvSpPr>
          <p:cNvPr id="12" name="Rectangle 11">
            <a:extLst>
              <a:ext uri="{FF2B5EF4-FFF2-40B4-BE49-F238E27FC236}">
                <a16:creationId xmlns:a16="http://schemas.microsoft.com/office/drawing/2014/main" id="{95D6E3F2-A10E-4060-B506-38AF5B0B2096}"/>
              </a:ext>
            </a:extLst>
          </p:cNvPr>
          <p:cNvSpPr>
            <a:spLocks noGrp="1"/>
          </p:cNvSpPr>
          <p:nvPr/>
        </p:nvSpPr>
        <p:spPr>
          <a:xfrm>
            <a:off x="762000" y="4686300"/>
            <a:ext cx="666750" cy="457200"/>
          </a:xfrm>
          <a:prstGeom prst="rect">
            <a:avLst/>
          </a:prstGeom>
          <a:noFill/>
          <a:ln w="0">
            <a:noFill/>
          </a:ln>
        </p:spPr>
        <p:txBody>
          <a:bodyPr lIns="0" tIns="0" rIns="0" bIns="0" anchor="t">
            <a:noAutofit/>
          </a:bodyPr>
          <a:lstStyle/>
          <a:p>
            <a:pPr algn="l">
              <a:defRPr sz="2475" b="1">
                <a:solidFill>
                  <a:srgbClr val="117D79"/>
                </a:solidFill>
                <a:latin typeface="Inter"/>
                <a:ea typeface="Inter"/>
                <a:cs typeface="Inter"/>
              </a:defRPr>
            </a:pPr>
            <a:r>
              <a:rPr sz="2475" b="1">
                <a:solidFill>
                  <a:srgbClr val="117D79"/>
                </a:solidFill>
                <a:latin typeface="Inter"/>
                <a:ea typeface="Inter"/>
                <a:cs typeface="Inter"/>
              </a:rPr>
              <a:t>03</a:t>
            </a:r>
          </a:p>
        </p:txBody>
      </p:sp>
      <p:sp>
        <p:nvSpPr>
          <p:cNvPr id="13" name="Rectangle 12">
            <a:extLst>
              <a:ext uri="{FF2B5EF4-FFF2-40B4-BE49-F238E27FC236}">
                <a16:creationId xmlns:a16="http://schemas.microsoft.com/office/drawing/2014/main" id="{B6AF875E-7C9B-4D75-8A4E-BF78D06FD33F}"/>
              </a:ext>
            </a:extLst>
          </p:cNvPr>
          <p:cNvSpPr>
            <a:spLocks noGrp="1"/>
          </p:cNvSpPr>
          <p:nvPr/>
        </p:nvSpPr>
        <p:spPr>
          <a:xfrm>
            <a:off x="1638300" y="4686300"/>
            <a:ext cx="9715500" cy="381000"/>
          </a:xfrm>
          <a:prstGeom prst="rect">
            <a:avLst/>
          </a:prstGeom>
          <a:noFill/>
          <a:ln w="0">
            <a:noFill/>
          </a:ln>
        </p:spPr>
        <p:txBody>
          <a:bodyPr lIns="0" tIns="0" rIns="0" bIns="0" anchor="t">
            <a:noAutofit/>
          </a:bodyPr>
          <a:lstStyle/>
          <a:p>
            <a:pPr algn="l">
              <a:defRPr sz="2100" b="1">
                <a:solidFill>
                  <a:srgbClr val="101A2E"/>
                </a:solidFill>
                <a:latin typeface="Inter"/>
                <a:ea typeface="Inter"/>
                <a:cs typeface="Inter"/>
              </a:defRPr>
            </a:pPr>
            <a:r>
              <a:rPr sz="2100" b="1">
                <a:solidFill>
                  <a:srgbClr val="101A2E"/>
                </a:solidFill>
                <a:latin typeface="Inter"/>
                <a:ea typeface="Inter"/>
                <a:cs typeface="Inter"/>
              </a:rPr>
              <a:t>Usefulness</a:t>
            </a:r>
          </a:p>
        </p:txBody>
      </p:sp>
      <p:sp>
        <p:nvSpPr>
          <p:cNvPr id="14" name="Rectangle 13">
            <a:extLst>
              <a:ext uri="{FF2B5EF4-FFF2-40B4-BE49-F238E27FC236}">
                <a16:creationId xmlns:a16="http://schemas.microsoft.com/office/drawing/2014/main" id="{07600279-BAF7-4059-9BBE-D8EA20D4AAB0}"/>
              </a:ext>
            </a:extLst>
          </p:cNvPr>
          <p:cNvSpPr>
            <a:spLocks noGrp="1"/>
          </p:cNvSpPr>
          <p:nvPr/>
        </p:nvSpPr>
        <p:spPr>
          <a:xfrm>
            <a:off x="1638300" y="5162550"/>
            <a:ext cx="9525000" cy="561975"/>
          </a:xfrm>
          <a:prstGeom prst="rect">
            <a:avLst/>
          </a:prstGeom>
          <a:noFill/>
          <a:ln w="0">
            <a:noFill/>
          </a:ln>
        </p:spPr>
        <p:txBody>
          <a:bodyPr lIns="0" tIns="0" rIns="0" bIns="0" anchor="t">
            <a:noAutofit/>
          </a:bodyPr>
          <a:lstStyle/>
          <a:p>
            <a:pPr algn="l">
              <a:defRPr sz="1800" b="0">
                <a:solidFill>
                  <a:srgbClr val="596C84"/>
                </a:solidFill>
                <a:latin typeface="Inter"/>
                <a:ea typeface="Inter"/>
                <a:cs typeface="Inter"/>
              </a:defRPr>
            </a:pPr>
            <a:r>
              <a:rPr sz="1800" b="0">
                <a:solidFill>
                  <a:srgbClr val="596C84"/>
                </a:solidFill>
                <a:latin typeface="Inter"/>
                <a:ea typeface="Inter"/>
                <a:cs typeface="Inter"/>
              </a:rPr>
              <a:t>What task outcomes would demonstrate value to payments teams?</a:t>
            </a:r>
          </a:p>
        </p:txBody>
      </p:sp>
      <p:sp>
        <p:nvSpPr>
          <p:cNvPr id="15" name="Rectangle 14">
            <a:extLst>
              <a:ext uri="{FF2B5EF4-FFF2-40B4-BE49-F238E27FC236}">
                <a16:creationId xmlns:a16="http://schemas.microsoft.com/office/drawing/2014/main" id="{7FD88EC7-282C-4CDD-9B08-9D545945064F}"/>
              </a:ext>
            </a:extLst>
          </p:cNvPr>
          <p:cNvSpPr>
            <a:spLocks noGrp="1"/>
          </p:cNvSpPr>
          <p:nvPr/>
        </p:nvSpPr>
        <p:spPr>
          <a:xfrm>
            <a:off x="762000" y="6029325"/>
            <a:ext cx="10668000" cy="285750"/>
          </a:xfrm>
          <a:prstGeom prst="rect">
            <a:avLst/>
          </a:prstGeom>
          <a:noFill/>
          <a:ln w="0">
            <a:noFill/>
          </a:ln>
        </p:spPr>
        <p:txBody>
          <a:bodyPr lIns="0" tIns="0" rIns="0" bIns="0" anchor="t">
            <a:noAutofit/>
          </a:bodyPr>
          <a:lstStyle/>
          <a:p>
            <a:pPr algn="l">
              <a:defRPr sz="1575" b="0">
                <a:solidFill>
                  <a:srgbClr val="117D79"/>
                </a:solidFill>
                <a:latin typeface="Inter"/>
                <a:ea typeface="Inter"/>
                <a:cs typeface="Inter"/>
              </a:defRPr>
            </a:pPr>
            <a:r>
              <a:rPr sz="1575" b="0">
                <a:solidFill>
                  <a:srgbClr val="117D79"/>
                </a:solidFill>
                <a:latin typeface="Inter"/>
                <a:ea typeface="Inter"/>
                <a:cs typeface="Inter"/>
              </a:rPr>
              <a:t>Immediate priority: validate answers and improve failures before expanding coverage.</a:t>
            </a:r>
          </a:p>
        </p:txBody>
      </p:sp>
    </p:spTree>
    <p:extLst>
      <p:ext uri="{BB962C8B-B14F-4D97-AF65-F5344CB8AC3E}">
        <p14:creationId xmlns:p14="http://schemas.microsoft.com/office/powerpoint/2010/main" val="103792470"/>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2197</Words>
  <Application>Microsoft Office PowerPoint</Application>
  <DocSecurity>0</DocSecurity>
  <PresentationFormat>Widescreen</PresentationFormat>
  <Paragraphs>181</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Calibri</vt:lpstr>
      <vt:lpstr>Georgia</vt:lpstr>
      <vt:lpstr>Inter</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Ajay kumar Sinha</cp:lastModifiedBy>
  <cp:revision>2</cp:revision>
  <dcterms:created xsi:type="dcterms:W3CDTF">2026-10-03T21:40:47Z</dcterms:created>
  <dcterms:modified xsi:type="dcterms:W3CDTF">2026-10-03T21:53:06Z</dcterms:modified>
</cp:coreProperties>
</file>